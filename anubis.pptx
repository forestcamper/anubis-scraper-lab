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1" r:id="rId6"/>
    <p:sldId id="262" r:id="rId7"/>
    <p:sldId id="260" r:id="rId8"/>
    <p:sldId id="263" r:id="rId9"/>
    <p:sldId id="264" r:id="rId10"/>
    <p:sldId id="265" r:id="rId11"/>
    <p:sldId id="272" r:id="rId12"/>
    <p:sldId id="273" r:id="rId13"/>
    <p:sldId id="274" r:id="rId14"/>
    <p:sldId id="266" r:id="rId15"/>
    <p:sldId id="267" r:id="rId16"/>
    <p:sldId id="271" r:id="rId17"/>
    <p:sldId id="268" r:id="rId18"/>
    <p:sldId id="269" r:id="rId19"/>
    <p:sldId id="270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28"/>
    <a:srgbClr val="7A888D"/>
    <a:srgbClr val="728085"/>
    <a:srgbClr val="4D5659"/>
    <a:srgbClr val="9BAF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84" d="100"/>
          <a:sy n="84" d="100"/>
        </p:scale>
        <p:origin x="1144" y="9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8F408-0A79-A747-BD65-56292CA59530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7038EF-9F0C-044A-A4E0-577EBFED93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49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Reverse proxy pour </a:t>
            </a:r>
            <a:r>
              <a:rPr lang="en-US" dirty="0" err="1"/>
              <a:t>protéger</a:t>
            </a:r>
            <a:r>
              <a:rPr lang="en-US" dirty="0"/>
              <a:t> </a:t>
            </a:r>
            <a:r>
              <a:rPr lang="en-US" dirty="0" err="1"/>
              <a:t>contre</a:t>
            </a:r>
            <a:r>
              <a:rPr lang="en-US" dirty="0"/>
              <a:t> le </a:t>
            </a:r>
            <a:r>
              <a:rPr lang="en-US" dirty="0" err="1"/>
              <a:t>scrapeur</a:t>
            </a:r>
            <a:r>
              <a:rPr lang="en-US" dirty="0"/>
              <a:t> et les bots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40909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EDBD3D-45D2-52BF-596A-DD1437BE3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0B4DF2-277E-B2CF-B12E-8F7D6DF22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329517-963F-D5D4-BEE1-1604CC496F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9DA49-71AB-0354-A8E6-D25C59505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439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AEE644-0AF3-3B59-5C6E-C305DB844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5AA5CD-4473-B894-E43E-7C50279268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096FFD-EA2B-8051-1848-748C6A7B0F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49C46F-0CAC-A359-3D7F-0F1E88E47B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1373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7C779-EEA5-F2D7-B050-79BE7CCC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919006-E7D4-2966-5A98-CFCC6D80E4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74C4C1-2148-5947-576D-8EEB3120A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Les problèmes :</a:t>
            </a:r>
          </a:p>
          <a:p>
            <a:r>
              <a:rPr lang="fr-FR" noProof="0" dirty="0"/>
              <a:t>Au </a:t>
            </a:r>
            <a:r>
              <a:rPr lang="fr-FR" noProof="0" dirty="0" err="1"/>
              <a:t>dela</a:t>
            </a:r>
            <a:r>
              <a:rPr lang="fr-FR" noProof="0" dirty="0"/>
              <a:t> de la surcharge du serveur, techniquement, on voudrait dire que les données récupérées sont là sur le site, accessible à tous. Pourquoi ne pourrions-nous pas faire un bot pour récupérer ces ressources automatiquement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3C945-66F2-A54C-C442-919FF13FD4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027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E9B9C-6B38-15A2-0C5C-DFCE9F84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4219E-3684-FA32-CFDA-2CF756F993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9D287-EA0D-3EB6-1410-DA131504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0" dirty="0"/>
              <a:t>Les problèmes :</a:t>
            </a:r>
          </a:p>
          <a:p>
            <a:r>
              <a:rPr lang="fr-FR" noProof="0" dirty="0"/>
              <a:t>Au </a:t>
            </a:r>
            <a:r>
              <a:rPr lang="fr-FR" noProof="0" dirty="0" err="1"/>
              <a:t>dela</a:t>
            </a:r>
            <a:r>
              <a:rPr lang="fr-FR" noProof="0" dirty="0"/>
              <a:t> de la surcharge du serveur, techniquement, on voudrait dire que les données récupérées sont là sur le site, accessible à tous. Pourquoi ne pourrions-nous pas faire un bot pour récupérer ces ressources automatiquement 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5BF6DC-9C61-83CD-1241-7D2E5D504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0427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614C7D-8C0E-A220-2190-12C691A70E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034C82-46B2-A130-5DE0-AA7777164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7FCD1-ADE0-84B9-481C-84E1B3E6E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Challenge</a:t>
            </a:r>
          </a:p>
          <a:p>
            <a:r>
              <a:rPr lang="en-US" dirty="0"/>
              <a:t>WAF miniature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4AA4D2-1EAA-51B2-E161-A51EBB132F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4385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6EDE8-5011-579E-AD7D-F22BD4D92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32BFA-DC96-FCE5-475C-6AF34D1AC8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3AD2DA-42E8-A4EE-652B-EA59C23A0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137DD4-6EF3-0B38-3BD8-AF2BB22120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8156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B572C-BCB4-59D7-DB56-6ECD3EAF3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5A68F1-ADE0-B369-1B81-9D7F2D52EA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FD052F-9B84-0088-074B-4BDC6EA3E6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3D7B76-A3D0-6A4A-5393-0CBE5E79A3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939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D0B8A-BEFF-9267-AFBC-34123D3E6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DF397-C554-9AC7-8802-60F77DD3FD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5D9D85-5B20-4264-66DC-4020D9F926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94041A-2FDE-7048-058E-599016AE9D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4473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7F92D-A0EB-1F0C-C13E-90ED61C66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0032AF-F781-D468-2150-ADD37C7AAD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C009D8-B542-AA59-A8F2-DB0DA62D2B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tournent</a:t>
            </a:r>
            <a:r>
              <a:rPr lang="en-US" dirty="0"/>
              <a:t> sur </a:t>
            </a:r>
            <a:r>
              <a:rPr lang="en-US" dirty="0" err="1"/>
              <a:t>une</a:t>
            </a:r>
            <a:r>
              <a:rPr lang="en-US" dirty="0"/>
              <a:t> machine </a:t>
            </a:r>
            <a:r>
              <a:rPr lang="en-US" dirty="0" err="1"/>
              <a:t>exterieur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A7A013-7561-0040-E2F2-A2506BE286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254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E1525-C484-E342-3919-BA8B5FBAB8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8350A7-D1FC-DBB2-C7F6-F89E3A7D3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55C25-C4D7-76BE-F4D4-BEBB205A6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tournent</a:t>
            </a:r>
            <a:r>
              <a:rPr lang="en-US" dirty="0"/>
              <a:t> sur </a:t>
            </a:r>
            <a:r>
              <a:rPr lang="en-US" dirty="0" err="1"/>
              <a:t>une</a:t>
            </a:r>
            <a:r>
              <a:rPr lang="en-US" dirty="0"/>
              <a:t> machine </a:t>
            </a:r>
            <a:r>
              <a:rPr lang="en-US" dirty="0" err="1"/>
              <a:t>exterieur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302C07-03D7-8E3E-8CD3-0F6FBC28B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793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FCD89B-7685-57B7-64A7-394CD98ED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D3C33-9176-5E24-0041-164A2DF897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450B1E-77C5-B2AE-197A-E713F5702A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tournent</a:t>
            </a:r>
            <a:r>
              <a:rPr lang="en-US" dirty="0"/>
              <a:t> sur </a:t>
            </a:r>
            <a:r>
              <a:rPr lang="en-US" dirty="0" err="1"/>
              <a:t>une</a:t>
            </a:r>
            <a:r>
              <a:rPr lang="en-US" dirty="0"/>
              <a:t> machine </a:t>
            </a:r>
            <a:r>
              <a:rPr lang="en-US" dirty="0" err="1"/>
              <a:t>exterieur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48BCD1-90AB-D2D5-950B-63E6425B4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382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99410-F8FC-F649-7BF7-4B55950C9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E88712-AE05-E9F5-11C5-60E728ED71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F66D0-DAA7-2804-3BF0-2C678211B5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Ils</a:t>
            </a:r>
            <a:r>
              <a:rPr lang="en-US" dirty="0"/>
              <a:t> </a:t>
            </a:r>
            <a:r>
              <a:rPr lang="en-US" dirty="0" err="1"/>
              <a:t>tournent</a:t>
            </a:r>
            <a:r>
              <a:rPr lang="en-US" dirty="0"/>
              <a:t> sur </a:t>
            </a:r>
            <a:r>
              <a:rPr lang="en-US" dirty="0" err="1"/>
              <a:t>une</a:t>
            </a:r>
            <a:r>
              <a:rPr lang="en-US" dirty="0"/>
              <a:t> machine </a:t>
            </a:r>
            <a:r>
              <a:rPr lang="en-US" dirty="0" err="1"/>
              <a:t>exterieur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6B60A-8876-CF1E-64AA-433B62172C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0278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6C2A0-A13B-E042-EA64-A00A83C02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794D31-F688-A816-30F5-BC2D9B96A9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78CEB-16C6-8322-9220-A45BFF5EDB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Données avec Anubis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statistiques</a:t>
            </a:r>
            <a:r>
              <a:rPr lang="en-US" dirty="0"/>
              <a:t> : le </a:t>
            </a:r>
            <a:r>
              <a:rPr lang="en-US" dirty="0" err="1"/>
              <a:t>programme</a:t>
            </a:r>
            <a:r>
              <a:rPr lang="en-US" dirty="0"/>
              <a:t> a plus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moins</a:t>
            </a:r>
            <a:r>
              <a:rPr lang="en-US" dirty="0"/>
              <a:t> de chance de </a:t>
            </a:r>
            <a:r>
              <a:rPr lang="en-US" dirty="0" err="1"/>
              <a:t>tomber</a:t>
            </a:r>
            <a:r>
              <a:rPr lang="en-US" dirty="0"/>
              <a:t> </a:t>
            </a:r>
            <a:r>
              <a:rPr lang="en-US" dirty="0" err="1"/>
              <a:t>rapidement</a:t>
            </a:r>
            <a:r>
              <a:rPr lang="en-US" dirty="0"/>
              <a:t> sur la solution.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F102A5-664C-C9CF-DF49-AFED0B51EE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981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FBDB3-AD33-88B6-F607-5945CF21C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1ABE89-3551-3CFD-F685-612FA72E5D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724FFD-C989-997B-A1F0-E174349E2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3F363-9890-C13B-F857-F6DB4F2A92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6580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6BD2C-67A2-A321-FC4C-D9BAE4BD3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59A727-598A-46A2-4445-3DC7647EF4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E9A7CD-BC4E-A95D-B4C2-7E19C4CCC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site internet doit </a:t>
            </a:r>
            <a:r>
              <a:rPr lang="en-US" dirty="0" err="1"/>
              <a:t>pouvoir</a:t>
            </a:r>
            <a:r>
              <a:rPr lang="en-US" dirty="0"/>
              <a:t> </a:t>
            </a:r>
            <a:r>
              <a:rPr lang="en-US" dirty="0" err="1"/>
              <a:t>être</a:t>
            </a:r>
            <a:r>
              <a:rPr lang="en-US" dirty="0"/>
              <a:t> </a:t>
            </a:r>
            <a:r>
              <a:rPr lang="en-US" dirty="0" err="1"/>
              <a:t>rapidement</a:t>
            </a:r>
            <a:r>
              <a:rPr lang="en-US" dirty="0"/>
              <a:t> accessible à </a:t>
            </a:r>
            <a:r>
              <a:rPr lang="en-US" dirty="0" err="1"/>
              <a:t>l’utilisateur</a:t>
            </a:r>
            <a:r>
              <a:rPr lang="en-US" dirty="0"/>
              <a:t> : tout </a:t>
            </a:r>
            <a:r>
              <a:rPr lang="en-US" dirty="0" err="1"/>
              <a:t>ce</a:t>
            </a:r>
            <a:r>
              <a:rPr lang="en-US" dirty="0"/>
              <a:t> qui dure plus </a:t>
            </a:r>
            <a:r>
              <a:rPr lang="en-US" dirty="0" err="1"/>
              <a:t>d’une</a:t>
            </a:r>
            <a:r>
              <a:rPr lang="en-US" dirty="0"/>
              <a:t> </a:t>
            </a:r>
            <a:r>
              <a:rPr lang="en-US" dirty="0" err="1"/>
              <a:t>seconde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sembler</a:t>
            </a:r>
            <a:r>
              <a:rPr lang="en-US" dirty="0"/>
              <a:t> déjà très long pour un </a:t>
            </a:r>
            <a:r>
              <a:rPr lang="en-US" dirty="0" err="1"/>
              <a:t>utilisateur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C6A8B-7B65-CE93-3FBB-DB2DD302BA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007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12AA1-6F28-BBD9-E276-40A0589F3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3C8202-1A12-7715-7936-D82F95814F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F6A1DF-4BB3-7B87-4DE2-7DA255F7F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Données avec Anubis </a:t>
            </a:r>
            <a:r>
              <a:rPr lang="en-US" dirty="0" err="1"/>
              <a:t>sont</a:t>
            </a:r>
            <a:r>
              <a:rPr lang="en-US" dirty="0"/>
              <a:t> </a:t>
            </a:r>
            <a:r>
              <a:rPr lang="en-US" dirty="0" err="1"/>
              <a:t>statistiques</a:t>
            </a:r>
            <a:r>
              <a:rPr lang="en-US" dirty="0"/>
              <a:t> : le </a:t>
            </a:r>
            <a:r>
              <a:rPr lang="en-US" dirty="0" err="1"/>
              <a:t>programme</a:t>
            </a:r>
            <a:r>
              <a:rPr lang="en-US" dirty="0"/>
              <a:t> a plus </a:t>
            </a:r>
            <a:r>
              <a:rPr lang="en-US" dirty="0" err="1"/>
              <a:t>ou</a:t>
            </a:r>
            <a:r>
              <a:rPr lang="en-US" dirty="0"/>
              <a:t> </a:t>
            </a:r>
            <a:r>
              <a:rPr lang="en-US" dirty="0" err="1"/>
              <a:t>moins</a:t>
            </a:r>
            <a:r>
              <a:rPr lang="en-US" dirty="0"/>
              <a:t> de chance de </a:t>
            </a:r>
            <a:r>
              <a:rPr lang="en-US" dirty="0" err="1"/>
              <a:t>tomber</a:t>
            </a:r>
            <a:r>
              <a:rPr lang="en-US" dirty="0"/>
              <a:t> </a:t>
            </a:r>
            <a:r>
              <a:rPr lang="en-US" dirty="0" err="1"/>
              <a:t>rapidement</a:t>
            </a:r>
            <a:r>
              <a:rPr lang="en-US" dirty="0"/>
              <a:t> sur la solution.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4A5985-8444-B6B9-6E76-F777739415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94506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F180D-B3B1-155F-5360-4C843CF85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48BC58-33D4-1B78-A7B4-37FA25EEF0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C69214-C23E-AF24-FBCA-0B42F4CFB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</a:t>
            </a:r>
            <a:r>
              <a:rPr lang="en-US" dirty="0" err="1"/>
              <a:t>approche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le grand </a:t>
            </a:r>
            <a:r>
              <a:rPr lang="en-US" dirty="0" err="1"/>
              <a:t>problème</a:t>
            </a:r>
            <a:r>
              <a:rPr lang="en-US" dirty="0"/>
              <a:t> avec la </a:t>
            </a:r>
            <a:r>
              <a:rPr lang="en-US" dirty="0" err="1"/>
              <a:t>méthode</a:t>
            </a:r>
            <a:r>
              <a:rPr lang="en-US" dirty="0"/>
              <a:t> Anubis : pour les grands </a:t>
            </a:r>
            <a:r>
              <a:rPr lang="en-US" dirty="0" err="1"/>
              <a:t>groupes</a:t>
            </a:r>
            <a:r>
              <a:rPr lang="en-US" dirty="0"/>
              <a:t>, </a:t>
            </a:r>
            <a:r>
              <a:rPr lang="en-US" dirty="0" err="1"/>
              <a:t>ceux</a:t>
            </a:r>
            <a:r>
              <a:rPr lang="en-US" dirty="0"/>
              <a:t> </a:t>
            </a:r>
            <a:r>
              <a:rPr lang="en-US" dirty="0" err="1"/>
              <a:t>qu’on</a:t>
            </a:r>
            <a:r>
              <a:rPr lang="en-US" dirty="0"/>
              <a:t> </a:t>
            </a:r>
            <a:r>
              <a:rPr lang="en-US" dirty="0" err="1"/>
              <a:t>veut</a:t>
            </a:r>
            <a:r>
              <a:rPr lang="en-US" dirty="0"/>
              <a:t> </a:t>
            </a:r>
            <a:r>
              <a:rPr lang="en-US" dirty="0" err="1"/>
              <a:t>justement</a:t>
            </a:r>
            <a:r>
              <a:rPr lang="en-US" dirty="0"/>
              <a:t> le plus </a:t>
            </a:r>
            <a:r>
              <a:rPr lang="en-US" dirty="0" err="1"/>
              <a:t>arrêter</a:t>
            </a:r>
            <a:r>
              <a:rPr lang="en-US" dirty="0"/>
              <a:t>, le </a:t>
            </a:r>
            <a:r>
              <a:rPr lang="en-US" dirty="0" err="1"/>
              <a:t>coût</a:t>
            </a:r>
            <a:r>
              <a:rPr lang="en-US" dirty="0"/>
              <a:t> </a:t>
            </a:r>
            <a:r>
              <a:rPr lang="en-US" dirty="0" err="1"/>
              <a:t>supplémentaire</a:t>
            </a:r>
            <a:r>
              <a:rPr lang="en-US" dirty="0"/>
              <a:t> est </a:t>
            </a:r>
            <a:r>
              <a:rPr lang="en-US" dirty="0" err="1"/>
              <a:t>minime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62DCBB-0FB6-E55F-48DF-6F8DF22A1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94363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3FE01-B6F0-8DB0-FAEF-8175B72962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E7834-B20B-4DCE-3819-7E935B69E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874E45-6385-01A5-04AE-64A306CD1C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Anubis a le mérite </a:t>
            </a:r>
            <a:r>
              <a:rPr lang="en-US" dirty="0" err="1"/>
              <a:t>d’exister</a:t>
            </a:r>
            <a:r>
              <a:rPr lang="en-US" dirty="0"/>
              <a:t>. Il agit déjà </a:t>
            </a:r>
            <a:r>
              <a:rPr lang="en-US" dirty="0" err="1"/>
              <a:t>comme</a:t>
            </a:r>
            <a:r>
              <a:rPr lang="en-US" dirty="0"/>
              <a:t> un rampart aux </a:t>
            </a:r>
            <a:r>
              <a:rPr lang="en-US" dirty="0" err="1"/>
              <a:t>scrapeurs</a:t>
            </a:r>
            <a:r>
              <a:rPr lang="en-US" dirty="0"/>
              <a:t> un peu simples qui </a:t>
            </a:r>
            <a:r>
              <a:rPr lang="en-US" dirty="0" err="1"/>
              <a:t>n’utilisent</a:t>
            </a:r>
            <a:r>
              <a:rPr lang="en-US" dirty="0"/>
              <a:t> pas de </a:t>
            </a:r>
            <a:r>
              <a:rPr lang="en-US" dirty="0" err="1"/>
              <a:t>navigateur</a:t>
            </a:r>
            <a:r>
              <a:rPr lang="en-US" dirty="0"/>
              <a:t> headless, qui </a:t>
            </a:r>
            <a:r>
              <a:rPr lang="en-US" dirty="0" err="1"/>
              <a:t>n’exécutent</a:t>
            </a:r>
            <a:r>
              <a:rPr lang="en-US" dirty="0"/>
              <a:t> pas de JS. Il </a:t>
            </a:r>
            <a:r>
              <a:rPr lang="en-US" dirty="0" err="1"/>
              <a:t>peut</a:t>
            </a:r>
            <a:r>
              <a:rPr lang="en-US" dirty="0"/>
              <a:t> </a:t>
            </a:r>
            <a:r>
              <a:rPr lang="en-US" dirty="0" err="1"/>
              <a:t>également</a:t>
            </a:r>
            <a:r>
              <a:rPr lang="en-US" dirty="0"/>
              <a:t> </a:t>
            </a:r>
            <a:r>
              <a:rPr lang="en-US" dirty="0" err="1"/>
              <a:t>bloquer</a:t>
            </a:r>
            <a:r>
              <a:rPr lang="en-US" dirty="0"/>
              <a:t> les </a:t>
            </a:r>
            <a:r>
              <a:rPr lang="en-US" dirty="0" err="1"/>
              <a:t>requêtes</a:t>
            </a:r>
            <a:r>
              <a:rPr lang="en-US" dirty="0"/>
              <a:t> </a:t>
            </a:r>
            <a:r>
              <a:rPr lang="en-US" dirty="0" err="1"/>
              <a:t>provenant</a:t>
            </a:r>
            <a:r>
              <a:rPr lang="en-US" dirty="0"/>
              <a:t> de bots </a:t>
            </a:r>
            <a:r>
              <a:rPr lang="en-US" dirty="0" err="1"/>
              <a:t>connus</a:t>
            </a:r>
            <a:r>
              <a:rPr lang="en-US" dirty="0"/>
              <a:t>, </a:t>
            </a:r>
            <a:r>
              <a:rPr lang="en-US" dirty="0" err="1"/>
              <a:t>tel</a:t>
            </a:r>
            <a:r>
              <a:rPr lang="en-US" dirty="0"/>
              <a:t> un WAF. Mais le </a:t>
            </a:r>
            <a:r>
              <a:rPr lang="en-US" dirty="0" err="1"/>
              <a:t>ralentissement</a:t>
            </a:r>
            <a:r>
              <a:rPr lang="en-US" dirty="0"/>
              <a:t> </a:t>
            </a:r>
            <a:r>
              <a:rPr lang="en-US" dirty="0" err="1"/>
              <a:t>qu’il</a:t>
            </a:r>
            <a:r>
              <a:rPr lang="en-US" dirty="0"/>
              <a:t> propose </a:t>
            </a:r>
            <a:r>
              <a:rPr lang="en-US" dirty="0" err="1"/>
              <a:t>reste</a:t>
            </a:r>
            <a:r>
              <a:rPr lang="en-US" dirty="0"/>
              <a:t> </a:t>
            </a:r>
            <a:r>
              <a:rPr lang="en-US" dirty="0" err="1"/>
              <a:t>assez</a:t>
            </a:r>
            <a:r>
              <a:rPr lang="en-US" dirty="0"/>
              <a:t> </a:t>
            </a:r>
            <a:r>
              <a:rPr lang="en-US" dirty="0" err="1"/>
              <a:t>dérisoire</a:t>
            </a:r>
            <a:r>
              <a:rPr lang="en-US" dirty="0"/>
              <a:t> face à </a:t>
            </a:r>
            <a:r>
              <a:rPr lang="en-US" dirty="0" err="1"/>
              <a:t>l’ampleur</a:t>
            </a:r>
            <a:r>
              <a:rPr lang="en-US" dirty="0"/>
              <a:t> des </a:t>
            </a:r>
            <a:r>
              <a:rPr lang="en-US" dirty="0" err="1"/>
              <a:t>entreprises</a:t>
            </a:r>
            <a:r>
              <a:rPr lang="en-US" dirty="0"/>
              <a:t> qui </a:t>
            </a:r>
            <a:r>
              <a:rPr lang="en-US" dirty="0" err="1"/>
              <a:t>veulent</a:t>
            </a:r>
            <a:r>
              <a:rPr lang="en-US" dirty="0"/>
              <a:t> exploiter </a:t>
            </a:r>
            <a:r>
              <a:rPr lang="en-US" dirty="0" err="1"/>
              <a:t>ces</a:t>
            </a:r>
            <a:r>
              <a:rPr lang="en-US" dirty="0"/>
              <a:t> données. Comme le dis le </a:t>
            </a:r>
            <a:r>
              <a:rPr lang="en-US" dirty="0" err="1"/>
              <a:t>créateur</a:t>
            </a:r>
            <a:r>
              <a:rPr lang="en-US" dirty="0"/>
              <a:t> </a:t>
            </a:r>
            <a:r>
              <a:rPr lang="en-US" dirty="0" err="1"/>
              <a:t>d’Anubis</a:t>
            </a:r>
            <a:r>
              <a:rPr lang="en-US" dirty="0"/>
              <a:t> :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une</a:t>
            </a:r>
            <a:r>
              <a:rPr lang="en-US" dirty="0"/>
              <a:t> solution </a:t>
            </a:r>
            <a:r>
              <a:rPr lang="en-US" dirty="0" err="1"/>
              <a:t>temporaire</a:t>
            </a:r>
            <a:r>
              <a:rPr lang="en-US" dirty="0"/>
              <a:t>, le temps de </a:t>
            </a:r>
            <a:r>
              <a:rPr lang="en-US" dirty="0" err="1"/>
              <a:t>trouver</a:t>
            </a:r>
            <a:r>
              <a:rPr lang="en-US" dirty="0"/>
              <a:t> les </a:t>
            </a:r>
            <a:r>
              <a:rPr lang="en-US" dirty="0" err="1"/>
              <a:t>identifiants</a:t>
            </a:r>
            <a:r>
              <a:rPr lang="en-US" dirty="0"/>
              <a:t> pour </a:t>
            </a:r>
            <a:r>
              <a:rPr lang="en-US" dirty="0" err="1"/>
              <a:t>bloquer</a:t>
            </a:r>
            <a:r>
              <a:rPr lang="en-US" dirty="0"/>
              <a:t> de manière nominative les bots.</a:t>
            </a:r>
          </a:p>
          <a:p>
            <a:r>
              <a:rPr lang="en-US" dirty="0"/>
              <a:t>Le software est </a:t>
            </a:r>
            <a:r>
              <a:rPr lang="en-US" dirty="0" err="1"/>
              <a:t>relativement</a:t>
            </a:r>
            <a:r>
              <a:rPr lang="en-US" dirty="0"/>
              <a:t> simple </a:t>
            </a:r>
            <a:r>
              <a:rPr lang="en-US" dirty="0" err="1"/>
              <a:t>d’utilization</a:t>
            </a:r>
            <a:r>
              <a:rPr lang="en-US" dirty="0"/>
              <a:t>, et très </a:t>
            </a:r>
            <a:r>
              <a:rPr lang="en-US" dirty="0" err="1"/>
              <a:t>léger</a:t>
            </a:r>
            <a:r>
              <a:rPr lang="en-US" dirty="0"/>
              <a:t> à supporter, </a:t>
            </a:r>
            <a:r>
              <a:rPr lang="en-US" dirty="0" err="1"/>
              <a:t>donc</a:t>
            </a:r>
            <a:r>
              <a:rPr lang="en-US" dirty="0"/>
              <a:t> il </a:t>
            </a:r>
            <a:r>
              <a:rPr lang="en-US" dirty="0" err="1"/>
              <a:t>n’y</a:t>
            </a:r>
            <a:r>
              <a:rPr lang="en-US" dirty="0"/>
              <a:t> a pas grand chose à </a:t>
            </a:r>
            <a:r>
              <a:rPr lang="en-US" dirty="0" err="1"/>
              <a:t>perde</a:t>
            </a:r>
            <a:r>
              <a:rPr lang="en-US" dirty="0"/>
              <a:t> de </a:t>
            </a:r>
            <a:r>
              <a:rPr lang="en-US" dirty="0" err="1"/>
              <a:t>l’installer</a:t>
            </a:r>
            <a:r>
              <a:rPr lang="en-US" dirty="0"/>
              <a:t>. </a:t>
            </a:r>
            <a:r>
              <a:rPr lang="en-US" dirty="0" err="1"/>
              <a:t>C’est</a:t>
            </a:r>
            <a:r>
              <a:rPr lang="en-US" dirty="0"/>
              <a:t> </a:t>
            </a:r>
            <a:r>
              <a:rPr lang="en-US" dirty="0" err="1"/>
              <a:t>également</a:t>
            </a:r>
            <a:r>
              <a:rPr lang="en-US" dirty="0"/>
              <a:t> le seul </a:t>
            </a:r>
            <a:r>
              <a:rPr lang="en-US" dirty="0" err="1"/>
              <a:t>logiciel</a:t>
            </a:r>
            <a:r>
              <a:rPr lang="en-US" dirty="0"/>
              <a:t> open source proposant </a:t>
            </a:r>
            <a:r>
              <a:rPr lang="en-US" dirty="0" err="1"/>
              <a:t>ce</a:t>
            </a:r>
            <a:r>
              <a:rPr lang="en-US" dirty="0"/>
              <a:t> genre de concept Proof-of-Work.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7A814C-280A-ACC4-4A08-5FD5C59C86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7038EF-9F0C-044A-A4E0-577EBFED933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171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8E414A1-7BCA-581E-8F8F-54880AC1690A}"/>
              </a:ext>
            </a:extLst>
          </p:cNvPr>
          <p:cNvSpPr/>
          <p:nvPr userDrawn="1"/>
        </p:nvSpPr>
        <p:spPr>
          <a:xfrm rot="4934769">
            <a:off x="9073737" y="1503355"/>
            <a:ext cx="7707626" cy="2175164"/>
          </a:xfrm>
          <a:prstGeom prst="rect">
            <a:avLst/>
          </a:prstGeom>
          <a:solidFill>
            <a:srgbClr val="7280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881B5A-CE4A-63D2-5F28-B6DB54DF7FA5}"/>
              </a:ext>
            </a:extLst>
          </p:cNvPr>
          <p:cNvSpPr/>
          <p:nvPr userDrawn="1"/>
        </p:nvSpPr>
        <p:spPr>
          <a:xfrm rot="277862">
            <a:off x="1668952" y="-1760500"/>
            <a:ext cx="11675630" cy="2175164"/>
          </a:xfrm>
          <a:prstGeom prst="rect">
            <a:avLst/>
          </a:prstGeom>
          <a:solidFill>
            <a:srgbClr val="7A8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C35B-C04F-DF4C-8A66-9DB8B758CDFA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742EC-052E-7A44-AEE3-F486708BDEF9}" type="slidenum">
              <a:rPr lang="en-US" smtClean="0"/>
              <a:t>‹#›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A484BFB-CD1B-660A-50C8-2C8DAA663E49}"/>
              </a:ext>
            </a:extLst>
          </p:cNvPr>
          <p:cNvSpPr/>
          <p:nvPr userDrawn="1"/>
        </p:nvSpPr>
        <p:spPr>
          <a:xfrm rot="4103308">
            <a:off x="-3062714" y="5770417"/>
            <a:ext cx="6068291" cy="2175164"/>
          </a:xfrm>
          <a:prstGeom prst="rect">
            <a:avLst/>
          </a:prstGeom>
          <a:solidFill>
            <a:srgbClr val="7A888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5810830-A5CE-2A41-9717-93298089CAE1}"/>
              </a:ext>
            </a:extLst>
          </p:cNvPr>
          <p:cNvSpPr/>
          <p:nvPr userDrawn="1"/>
        </p:nvSpPr>
        <p:spPr>
          <a:xfrm rot="193136">
            <a:off x="-1422265" y="6591087"/>
            <a:ext cx="12701179" cy="2175164"/>
          </a:xfrm>
          <a:prstGeom prst="rect">
            <a:avLst/>
          </a:prstGeom>
          <a:solidFill>
            <a:srgbClr val="72808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5B15A7D-9877-C315-7852-59CE725E1FD4}"/>
              </a:ext>
            </a:extLst>
          </p:cNvPr>
          <p:cNvSpPr/>
          <p:nvPr userDrawn="1"/>
        </p:nvSpPr>
        <p:spPr>
          <a:xfrm rot="779490">
            <a:off x="-861751" y="6246695"/>
            <a:ext cx="6068291" cy="2175164"/>
          </a:xfrm>
          <a:prstGeom prst="rect">
            <a:avLst/>
          </a:prstGeom>
          <a:solidFill>
            <a:srgbClr val="4D56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7FF092-C9D6-6791-7C09-F33A88DE1EDC}"/>
              </a:ext>
            </a:extLst>
          </p:cNvPr>
          <p:cNvSpPr/>
          <p:nvPr userDrawn="1"/>
        </p:nvSpPr>
        <p:spPr>
          <a:xfrm rot="4187652">
            <a:off x="9246440" y="-632782"/>
            <a:ext cx="6068291" cy="2175164"/>
          </a:xfrm>
          <a:prstGeom prst="rect">
            <a:avLst/>
          </a:prstGeom>
          <a:solidFill>
            <a:srgbClr val="4D56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946CDF-F13D-578C-0514-C4AC3B1969FC}"/>
              </a:ext>
            </a:extLst>
          </p:cNvPr>
          <p:cNvSpPr/>
          <p:nvPr userDrawn="1"/>
        </p:nvSpPr>
        <p:spPr>
          <a:xfrm>
            <a:off x="-1473315" y="-3256156"/>
            <a:ext cx="15657666" cy="325615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47F146-15E7-C7B6-01CC-8F55B822AD6A}"/>
              </a:ext>
            </a:extLst>
          </p:cNvPr>
          <p:cNvSpPr/>
          <p:nvPr userDrawn="1"/>
        </p:nvSpPr>
        <p:spPr>
          <a:xfrm>
            <a:off x="-1732833" y="6884030"/>
            <a:ext cx="15657666" cy="325615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F3F8474-2B17-6CE4-12B7-05A46D7A94C3}"/>
              </a:ext>
            </a:extLst>
          </p:cNvPr>
          <p:cNvSpPr/>
          <p:nvPr userDrawn="1"/>
        </p:nvSpPr>
        <p:spPr>
          <a:xfrm rot="5400000">
            <a:off x="-9454492" y="4321912"/>
            <a:ext cx="15657666" cy="325615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DEE9FC-7A16-8962-0804-F873D388C714}"/>
              </a:ext>
            </a:extLst>
          </p:cNvPr>
          <p:cNvSpPr/>
          <p:nvPr userDrawn="1"/>
        </p:nvSpPr>
        <p:spPr>
          <a:xfrm rot="5400000">
            <a:off x="5970010" y="1581626"/>
            <a:ext cx="15657666" cy="3256156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502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C35B-C04F-DF4C-8A66-9DB8B758CDFA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742EC-052E-7A44-AEE3-F486708B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9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C35B-C04F-DF4C-8A66-9DB8B758CDFA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742EC-052E-7A44-AEE3-F486708B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667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C35B-C04F-DF4C-8A66-9DB8B758CDFA}" type="datetimeFigureOut">
              <a:rPr lang="en-US" smtClean="0"/>
              <a:t>6/28/26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742EC-052E-7A44-AEE3-F486708B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50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C35B-C04F-DF4C-8A66-9DB8B758CDFA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742EC-052E-7A44-AEE3-F486708BDEF9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274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C35B-C04F-DF4C-8A66-9DB8B758CDFA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742EC-052E-7A44-AEE3-F486708B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390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C35B-C04F-DF4C-8A66-9DB8B758CDFA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742EC-052E-7A44-AEE3-F486708B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525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C35B-C04F-DF4C-8A66-9DB8B758CDFA}" type="datetimeFigureOut">
              <a:rPr lang="en-US" smtClean="0"/>
              <a:t>6/28/26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742EC-052E-7A44-AEE3-F486708B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97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E274C35B-C04F-DF4C-8A66-9DB8B758CDFA}" type="datetimeFigureOut">
              <a:rPr lang="en-US" smtClean="0"/>
              <a:t>6/28/26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742EC-052E-7A44-AEE3-F486708B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68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C35B-C04F-DF4C-8A66-9DB8B758CDFA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742EC-052E-7A44-AEE3-F486708B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1727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4C35B-C04F-DF4C-8A66-9DB8B758CDFA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0742EC-052E-7A44-AEE3-F486708B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3483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E274C35B-C04F-DF4C-8A66-9DB8B758CDFA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30742EC-052E-7A44-AEE3-F486708BDE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9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nubis: Open-source web AI firewall to protect from scraper bots - Help Net  Security">
            <a:extLst>
              <a:ext uri="{FF2B5EF4-FFF2-40B4-BE49-F238E27FC236}">
                <a16:creationId xmlns:a16="http://schemas.microsoft.com/office/drawing/2014/main" id="{1F4C548D-8EBF-44EF-5161-4C591FD400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6823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7272D-71D5-AFA0-E01A-4E26A0900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4D080F4-FC21-D717-3D53-AFC1EF22D5E0}"/>
              </a:ext>
            </a:extLst>
          </p:cNvPr>
          <p:cNvSpPr txBox="1"/>
          <p:nvPr/>
        </p:nvSpPr>
        <p:spPr>
          <a:xfrm>
            <a:off x="1353880" y="1843950"/>
            <a:ext cx="1012184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57250" indent="-857250">
              <a:buFont typeface="+mj-lt"/>
              <a:buAutoNum type="romanUcPeriod"/>
            </a:pPr>
            <a:r>
              <a:rPr lang="fr-FR" sz="4000" dirty="0"/>
              <a:t>Fonctionnement des </a:t>
            </a:r>
            <a:r>
              <a:rPr lang="fr-FR" sz="4000" noProof="0" dirty="0"/>
              <a:t>scrapers et d’Anubis</a:t>
            </a:r>
          </a:p>
          <a:p>
            <a:pPr marL="857250" indent="-857250">
              <a:buFont typeface="+mj-lt"/>
              <a:buAutoNum type="romanUcPeriod"/>
            </a:pPr>
            <a:endParaRPr lang="fr-FR" sz="4000" noProof="0" dirty="0"/>
          </a:p>
          <a:p>
            <a:pPr marL="857250" indent="-857250">
              <a:buFont typeface="+mj-lt"/>
              <a:buAutoNum type="romanUcPeriod"/>
            </a:pPr>
            <a:r>
              <a:rPr lang="fr-FR" sz="4000" noProof="0" dirty="0"/>
              <a:t>Application sur une maquette Docker</a:t>
            </a:r>
          </a:p>
          <a:p>
            <a:pPr marL="857250" indent="-857250">
              <a:buFont typeface="+mj-lt"/>
              <a:buAutoNum type="romanUcPeriod"/>
            </a:pPr>
            <a:endParaRPr lang="fr-FR" sz="4000" noProof="0" dirty="0"/>
          </a:p>
          <a:p>
            <a:pPr marL="857250" indent="-857250">
              <a:buFont typeface="+mj-lt"/>
              <a:buAutoNum type="romanUcPeriod"/>
            </a:pPr>
            <a:r>
              <a:rPr lang="fr-FR" sz="4000" noProof="0" dirty="0"/>
              <a:t>Bilan</a:t>
            </a:r>
          </a:p>
        </p:txBody>
      </p:sp>
    </p:spTree>
    <p:extLst>
      <p:ext uri="{BB962C8B-B14F-4D97-AF65-F5344CB8AC3E}">
        <p14:creationId xmlns:p14="http://schemas.microsoft.com/office/powerpoint/2010/main" val="19264491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D8D04-5E92-CC36-6884-A2D75018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43A87D3-C027-26EA-A76B-986C1514E082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noProof="0" dirty="0"/>
              <a:t>Qu’est-ce qu’un scraper ?</a:t>
            </a:r>
          </a:p>
        </p:txBody>
      </p:sp>
      <p:pic>
        <p:nvPicPr>
          <p:cNvPr id="4" name="Picture 3" descr="💻 Ordinateur Portable Emoji: Signification &amp; Utilisation">
            <a:extLst>
              <a:ext uri="{FF2B5EF4-FFF2-40B4-BE49-F238E27FC236}">
                <a16:creationId xmlns:a16="http://schemas.microsoft.com/office/drawing/2014/main" id="{62E61F10-BAD1-259A-0FEB-8E93EB79E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2178" y="2507799"/>
            <a:ext cx="1842401" cy="1842401"/>
          </a:xfrm>
          <a:prstGeom prst="rect">
            <a:avLst/>
          </a:prstGeom>
        </p:spPr>
      </p:pic>
      <p:pic>
        <p:nvPicPr>
          <p:cNvPr id="5" name="Picture 4" descr="Serveur - Icônes la technologie gratuites">
            <a:extLst>
              <a:ext uri="{FF2B5EF4-FFF2-40B4-BE49-F238E27FC236}">
                <a16:creationId xmlns:a16="http://schemas.microsoft.com/office/drawing/2014/main" id="{B7CB2985-CCE7-7032-676A-D22D9A3F7F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2545" y="2565057"/>
            <a:ext cx="1727886" cy="17278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762B16-207B-0598-C8CA-14CADF68792A}"/>
              </a:ext>
            </a:extLst>
          </p:cNvPr>
          <p:cNvSpPr txBox="1"/>
          <p:nvPr/>
        </p:nvSpPr>
        <p:spPr>
          <a:xfrm>
            <a:off x="2181399" y="4292943"/>
            <a:ext cx="15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Serveur Web</a:t>
            </a:r>
          </a:p>
        </p:txBody>
      </p:sp>
      <p:pic>
        <p:nvPicPr>
          <p:cNvPr id="7" name="Picture 6" descr="📄 Page Facing Up Emoji: Meaning &amp; Usage">
            <a:extLst>
              <a:ext uri="{FF2B5EF4-FFF2-40B4-BE49-F238E27FC236}">
                <a16:creationId xmlns:a16="http://schemas.microsoft.com/office/drawing/2014/main" id="{F1C2132F-23A1-F901-AA41-5F183DC1B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5707" y="3609531"/>
            <a:ext cx="1052744" cy="105274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0EAB08E-8C7E-D1D3-81CE-D4AC1179EF60}"/>
              </a:ext>
            </a:extLst>
          </p:cNvPr>
          <p:cNvCxnSpPr/>
          <p:nvPr/>
        </p:nvCxnSpPr>
        <p:spPr>
          <a:xfrm flipH="1">
            <a:off x="4316819" y="2934586"/>
            <a:ext cx="33705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EAE1E29-2959-F211-C763-D3FB9F02F255}"/>
              </a:ext>
            </a:extLst>
          </p:cNvPr>
          <p:cNvSpPr txBox="1"/>
          <p:nvPr/>
        </p:nvSpPr>
        <p:spPr>
          <a:xfrm>
            <a:off x="5156215" y="2487877"/>
            <a:ext cx="15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Requête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C5012C7-368D-8FF8-2DEB-35D63E266B00}"/>
              </a:ext>
            </a:extLst>
          </p:cNvPr>
          <p:cNvCxnSpPr>
            <a:cxnSpLocks/>
          </p:cNvCxnSpPr>
          <p:nvPr/>
        </p:nvCxnSpPr>
        <p:spPr>
          <a:xfrm>
            <a:off x="4348718" y="3498109"/>
            <a:ext cx="33705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E0E4073-B6F9-5B58-9ACB-B8BD589A0B8A}"/>
              </a:ext>
            </a:extLst>
          </p:cNvPr>
          <p:cNvSpPr txBox="1"/>
          <p:nvPr/>
        </p:nvSpPr>
        <p:spPr>
          <a:xfrm>
            <a:off x="8193727" y="4165534"/>
            <a:ext cx="15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Utilisateur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E0A767-1918-AF8C-0096-69084C04D34C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I. Présentation du software et des scrapers</a:t>
            </a:r>
          </a:p>
        </p:txBody>
      </p:sp>
    </p:spTree>
    <p:extLst>
      <p:ext uri="{BB962C8B-B14F-4D97-AF65-F5344CB8AC3E}">
        <p14:creationId xmlns:p14="http://schemas.microsoft.com/office/powerpoint/2010/main" val="1892598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E47FA-EC45-1110-9FB2-07CB98E2D2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B86EEC8-C14A-B0A5-3941-B72F9F5F114B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noProof="0" dirty="0"/>
              <a:t>Qu’est-ce qu’un scraper ?</a:t>
            </a:r>
          </a:p>
        </p:txBody>
      </p:sp>
      <p:pic>
        <p:nvPicPr>
          <p:cNvPr id="5" name="Picture 4" descr="Serveur - Icônes la technologie gratuites">
            <a:extLst>
              <a:ext uri="{FF2B5EF4-FFF2-40B4-BE49-F238E27FC236}">
                <a16:creationId xmlns:a16="http://schemas.microsoft.com/office/drawing/2014/main" id="{5CA207F5-CC8B-ACEC-F96F-D1A7F5D62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2545" y="2565057"/>
            <a:ext cx="1727886" cy="17278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2D67AB4-E0F4-55ED-AC29-A46DE0535AD3}"/>
              </a:ext>
            </a:extLst>
          </p:cNvPr>
          <p:cNvSpPr txBox="1"/>
          <p:nvPr/>
        </p:nvSpPr>
        <p:spPr>
          <a:xfrm>
            <a:off x="2181399" y="4292943"/>
            <a:ext cx="15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Serveur Web</a:t>
            </a:r>
          </a:p>
        </p:txBody>
      </p:sp>
      <p:pic>
        <p:nvPicPr>
          <p:cNvPr id="7" name="Picture 6" descr="📄 Page Facing Up Emoji: Meaning &amp; Usage">
            <a:extLst>
              <a:ext uri="{FF2B5EF4-FFF2-40B4-BE49-F238E27FC236}">
                <a16:creationId xmlns:a16="http://schemas.microsoft.com/office/drawing/2014/main" id="{226DE062-9F18-9C3B-A55A-2BCB28DF1C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707" y="3726494"/>
            <a:ext cx="1052744" cy="105274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A6F01D-94FC-001B-9D75-FDB7ACFF8832}"/>
              </a:ext>
            </a:extLst>
          </p:cNvPr>
          <p:cNvCxnSpPr/>
          <p:nvPr/>
        </p:nvCxnSpPr>
        <p:spPr>
          <a:xfrm flipH="1">
            <a:off x="4316819" y="2934586"/>
            <a:ext cx="33705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446F7FF-F01D-B52A-D2B0-B72AF3B15847}"/>
              </a:ext>
            </a:extLst>
          </p:cNvPr>
          <p:cNvCxnSpPr>
            <a:cxnSpLocks/>
          </p:cNvCxnSpPr>
          <p:nvPr/>
        </p:nvCxnSpPr>
        <p:spPr>
          <a:xfrm>
            <a:off x="4348718" y="3498109"/>
            <a:ext cx="33705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Serveur - Icônes la technologie gratuites">
            <a:extLst>
              <a:ext uri="{FF2B5EF4-FFF2-40B4-BE49-F238E27FC236}">
                <a16:creationId xmlns:a16="http://schemas.microsoft.com/office/drawing/2014/main" id="{E7F9D703-1A9C-1F39-A3AE-0B8DE2E294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2932" y="2565057"/>
            <a:ext cx="1727886" cy="17278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E2E3F4F-C2B7-DCB8-8787-5C9479763FAC}"/>
              </a:ext>
            </a:extLst>
          </p:cNvPr>
          <p:cNvSpPr txBox="1"/>
          <p:nvPr/>
        </p:nvSpPr>
        <p:spPr>
          <a:xfrm>
            <a:off x="8311786" y="4292943"/>
            <a:ext cx="15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Scrapeur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2D3706-8EEE-393A-6947-D2ECCBA4C968}"/>
              </a:ext>
            </a:extLst>
          </p:cNvPr>
          <p:cNvSpPr txBox="1"/>
          <p:nvPr/>
        </p:nvSpPr>
        <p:spPr>
          <a:xfrm>
            <a:off x="5236990" y="2402590"/>
            <a:ext cx="15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Requêtes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590E37-6721-7CE4-35E4-1972A1CF5EF9}"/>
              </a:ext>
            </a:extLst>
          </p:cNvPr>
          <p:cNvCxnSpPr/>
          <p:nvPr/>
        </p:nvCxnSpPr>
        <p:spPr>
          <a:xfrm flipH="1">
            <a:off x="4320357" y="3012556"/>
            <a:ext cx="33705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4720952-B7C9-8EB8-7294-99CFCDAFD1F1}"/>
              </a:ext>
            </a:extLst>
          </p:cNvPr>
          <p:cNvCxnSpPr/>
          <p:nvPr/>
        </p:nvCxnSpPr>
        <p:spPr>
          <a:xfrm flipH="1">
            <a:off x="4320360" y="3086985"/>
            <a:ext cx="33705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27E377A1-D251-4C80-525B-386313EE5715}"/>
              </a:ext>
            </a:extLst>
          </p:cNvPr>
          <p:cNvCxnSpPr/>
          <p:nvPr/>
        </p:nvCxnSpPr>
        <p:spPr>
          <a:xfrm flipH="1">
            <a:off x="4320359" y="2863699"/>
            <a:ext cx="33705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458DF0-16AB-8DB0-1CD8-CBBDB80BF824}"/>
              </a:ext>
            </a:extLst>
          </p:cNvPr>
          <p:cNvCxnSpPr>
            <a:cxnSpLocks/>
          </p:cNvCxnSpPr>
          <p:nvPr/>
        </p:nvCxnSpPr>
        <p:spPr>
          <a:xfrm>
            <a:off x="4352258" y="3565446"/>
            <a:ext cx="33705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159DB1-23F2-1FF2-351C-80E24F1BDC2A}"/>
              </a:ext>
            </a:extLst>
          </p:cNvPr>
          <p:cNvCxnSpPr>
            <a:cxnSpLocks/>
          </p:cNvCxnSpPr>
          <p:nvPr/>
        </p:nvCxnSpPr>
        <p:spPr>
          <a:xfrm>
            <a:off x="4341625" y="3427223"/>
            <a:ext cx="33705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4E08B86-4274-1336-18A4-077001A5C83C}"/>
              </a:ext>
            </a:extLst>
          </p:cNvPr>
          <p:cNvCxnSpPr>
            <a:cxnSpLocks/>
          </p:cNvCxnSpPr>
          <p:nvPr/>
        </p:nvCxnSpPr>
        <p:spPr>
          <a:xfrm>
            <a:off x="4341630" y="3363429"/>
            <a:ext cx="3370521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Picture 23" descr="📄 Page Facing Up Emoji: Meaning &amp; Usage">
            <a:extLst>
              <a:ext uri="{FF2B5EF4-FFF2-40B4-BE49-F238E27FC236}">
                <a16:creationId xmlns:a16="http://schemas.microsoft.com/office/drawing/2014/main" id="{F8734695-31FC-F35F-9331-7A21A7C77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107" y="3878894"/>
            <a:ext cx="1052744" cy="1052744"/>
          </a:xfrm>
          <a:prstGeom prst="rect">
            <a:avLst/>
          </a:prstGeom>
        </p:spPr>
      </p:pic>
      <p:pic>
        <p:nvPicPr>
          <p:cNvPr id="25" name="Picture 24" descr="📄 Page Facing Up Emoji: Meaning &amp; Usage">
            <a:extLst>
              <a:ext uri="{FF2B5EF4-FFF2-40B4-BE49-F238E27FC236}">
                <a16:creationId xmlns:a16="http://schemas.microsoft.com/office/drawing/2014/main" id="{0C20D37F-6221-C2E5-4B9B-28F6233333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0507" y="4031294"/>
            <a:ext cx="1052744" cy="1052744"/>
          </a:xfrm>
          <a:prstGeom prst="rect">
            <a:avLst/>
          </a:prstGeom>
        </p:spPr>
      </p:pic>
      <p:pic>
        <p:nvPicPr>
          <p:cNvPr id="26" name="Picture 25" descr="📄 Page Facing Up Emoji: Meaning &amp; Usage">
            <a:extLst>
              <a:ext uri="{FF2B5EF4-FFF2-40B4-BE49-F238E27FC236}">
                <a16:creationId xmlns:a16="http://schemas.microsoft.com/office/drawing/2014/main" id="{1D1E3940-2063-253E-45AB-C230CEF49C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2907" y="4183694"/>
            <a:ext cx="1052744" cy="1052744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C0A9D1E-53AA-98E0-E816-D61652FDCDF0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I. Présentation du software et des scrapers</a:t>
            </a:r>
          </a:p>
        </p:txBody>
      </p:sp>
    </p:spTree>
    <p:extLst>
      <p:ext uri="{BB962C8B-B14F-4D97-AF65-F5344CB8AC3E}">
        <p14:creationId xmlns:p14="http://schemas.microsoft.com/office/powerpoint/2010/main" val="288389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65276-C03A-17B4-E6BC-0F8119388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5B141-2845-0CEC-D3B9-FFBFD0B3A4F8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noProof="0" dirty="0"/>
              <a:t>Quels sont les problèmes 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704F63-9D84-C083-0B45-B13B5461D172}"/>
              </a:ext>
            </a:extLst>
          </p:cNvPr>
          <p:cNvSpPr txBox="1"/>
          <p:nvPr/>
        </p:nvSpPr>
        <p:spPr>
          <a:xfrm>
            <a:off x="1353880" y="1843950"/>
            <a:ext cx="620845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fr-FR" sz="2800" noProof="0" dirty="0"/>
              <a:t>Surcharge du serveur</a:t>
            </a:r>
          </a:p>
          <a:p>
            <a:pPr marL="457200" indent="-457200">
              <a:buFontTx/>
              <a:buChar char="-"/>
            </a:pPr>
            <a:endParaRPr lang="fr-FR" sz="2800" dirty="0"/>
          </a:p>
          <a:p>
            <a:pPr marL="457200" indent="-457200">
              <a:buFontTx/>
              <a:buChar char="-"/>
            </a:pPr>
            <a:r>
              <a:rPr lang="fr-FR" sz="2800" noProof="0" dirty="0"/>
              <a:t>OSINT : Open Source Intelligence</a:t>
            </a:r>
          </a:p>
          <a:p>
            <a:pPr marL="457200" indent="-457200">
              <a:buFontTx/>
              <a:buChar char="-"/>
            </a:pPr>
            <a:endParaRPr lang="fr-FR" sz="2800" dirty="0"/>
          </a:p>
          <a:p>
            <a:pPr marL="457200" indent="-457200">
              <a:buFontTx/>
              <a:buChar char="-"/>
            </a:pPr>
            <a:r>
              <a:rPr lang="fr-FR" sz="2800" noProof="0" dirty="0"/>
              <a:t>Droits d’auteurs / Données personnelles (RGPD)</a:t>
            </a:r>
          </a:p>
          <a:p>
            <a:pPr marL="457200" indent="-457200">
              <a:buFontTx/>
              <a:buChar char="-"/>
            </a:pPr>
            <a:endParaRPr lang="fr-FR" sz="2800" dirty="0"/>
          </a:p>
          <a:p>
            <a:pPr marL="457200" indent="-457200">
              <a:buFontTx/>
              <a:buChar char="-"/>
            </a:pPr>
            <a:r>
              <a:rPr lang="fr-FR" sz="2800" dirty="0"/>
              <a:t>r</a:t>
            </a:r>
            <a:r>
              <a:rPr lang="fr-FR" sz="2800" noProof="0" dirty="0" err="1"/>
              <a:t>obots.txt</a:t>
            </a:r>
            <a:endParaRPr lang="fr-FR" sz="2800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9A73735-1B2B-AED0-C951-A2B5F4A92D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6972"/>
          <a:stretch>
            <a:fillRect/>
          </a:stretch>
        </p:blipFill>
        <p:spPr>
          <a:xfrm>
            <a:off x="7430528" y="467474"/>
            <a:ext cx="4593083" cy="592305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E1F72D9-EC26-8F73-1122-ABAED428993B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I. Présentation du software et des scrapers</a:t>
            </a:r>
          </a:p>
        </p:txBody>
      </p:sp>
    </p:spTree>
    <p:extLst>
      <p:ext uri="{BB962C8B-B14F-4D97-AF65-F5344CB8AC3E}">
        <p14:creationId xmlns:p14="http://schemas.microsoft.com/office/powerpoint/2010/main" val="2992847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04FA0-0ADD-EDBF-64DD-892CA4250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873DADA-E267-8777-2CB9-3BB6699B0289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noProof="0" dirty="0"/>
              <a:t>Que va faire Anubis ?</a:t>
            </a:r>
          </a:p>
        </p:txBody>
      </p:sp>
      <p:pic>
        <p:nvPicPr>
          <p:cNvPr id="4" name="Picture 3" descr="💻 Ordinateur Portable Emoji: Signification &amp; Utilisation">
            <a:extLst>
              <a:ext uri="{FF2B5EF4-FFF2-40B4-BE49-F238E27FC236}">
                <a16:creationId xmlns:a16="http://schemas.microsoft.com/office/drawing/2014/main" id="{1DCA50AC-E67C-39CB-AC34-3619CD7928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5699" y="2507799"/>
            <a:ext cx="1842401" cy="1842401"/>
          </a:xfrm>
          <a:prstGeom prst="rect">
            <a:avLst/>
          </a:prstGeom>
        </p:spPr>
      </p:pic>
      <p:pic>
        <p:nvPicPr>
          <p:cNvPr id="5" name="Picture 4" descr="Serveur - Icônes la technologie gratuites">
            <a:extLst>
              <a:ext uri="{FF2B5EF4-FFF2-40B4-BE49-F238E27FC236}">
                <a16:creationId xmlns:a16="http://schemas.microsoft.com/office/drawing/2014/main" id="{101DA7C2-6E9C-266C-2BAE-081B89F00E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873" y="2565057"/>
            <a:ext cx="1727886" cy="172788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C0D6FE-93ED-267A-A68D-84D41C5CEFA9}"/>
              </a:ext>
            </a:extLst>
          </p:cNvPr>
          <p:cNvSpPr txBox="1"/>
          <p:nvPr/>
        </p:nvSpPr>
        <p:spPr>
          <a:xfrm>
            <a:off x="772727" y="4292943"/>
            <a:ext cx="15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Serveur Web</a:t>
            </a:r>
          </a:p>
        </p:txBody>
      </p:sp>
      <p:pic>
        <p:nvPicPr>
          <p:cNvPr id="7" name="Picture 6" descr="📄 Page Facing Up Emoji: Meaning &amp; Usage">
            <a:extLst>
              <a:ext uri="{FF2B5EF4-FFF2-40B4-BE49-F238E27FC236}">
                <a16:creationId xmlns:a16="http://schemas.microsoft.com/office/drawing/2014/main" id="{E4D2208C-A98E-1CE4-8A93-95C43A44081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0570" y="4338583"/>
            <a:ext cx="1052744" cy="1052744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D90136A-7653-6AAE-ECF7-65FBBA5F3C33}"/>
              </a:ext>
            </a:extLst>
          </p:cNvPr>
          <p:cNvCxnSpPr>
            <a:cxnSpLocks/>
          </p:cNvCxnSpPr>
          <p:nvPr/>
        </p:nvCxnSpPr>
        <p:spPr>
          <a:xfrm flipH="1">
            <a:off x="7207445" y="2613308"/>
            <a:ext cx="23952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CF66630-C1BA-541B-9CB5-ABE8D8DD528F}"/>
              </a:ext>
            </a:extLst>
          </p:cNvPr>
          <p:cNvSpPr txBox="1"/>
          <p:nvPr/>
        </p:nvSpPr>
        <p:spPr>
          <a:xfrm>
            <a:off x="7602863" y="2166599"/>
            <a:ext cx="15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Requête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8666E9B-2EBF-7F22-55ED-8EAF12B0F292}"/>
              </a:ext>
            </a:extLst>
          </p:cNvPr>
          <p:cNvCxnSpPr>
            <a:cxnSpLocks/>
          </p:cNvCxnSpPr>
          <p:nvPr/>
        </p:nvCxnSpPr>
        <p:spPr>
          <a:xfrm>
            <a:off x="7278130" y="4190090"/>
            <a:ext cx="234405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77F8A2E-99A3-30E3-7139-13F1DD44598F}"/>
              </a:ext>
            </a:extLst>
          </p:cNvPr>
          <p:cNvSpPr txBox="1"/>
          <p:nvPr/>
        </p:nvSpPr>
        <p:spPr>
          <a:xfrm>
            <a:off x="10047248" y="4165534"/>
            <a:ext cx="15301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Utilisateur / Scrapeur</a:t>
            </a:r>
          </a:p>
        </p:txBody>
      </p:sp>
      <p:pic>
        <p:nvPicPr>
          <p:cNvPr id="2" name="Picture 1" descr="Anubis (software) - Wikipedia">
            <a:extLst>
              <a:ext uri="{FF2B5EF4-FFF2-40B4-BE49-F238E27FC236}">
                <a16:creationId xmlns:a16="http://schemas.microsoft.com/office/drawing/2014/main" id="{15952AC9-89BF-1FBF-20AD-E65CA4C2FA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0300" y="2623735"/>
            <a:ext cx="1587500" cy="1587500"/>
          </a:xfrm>
          <a:prstGeom prst="rect">
            <a:avLst/>
          </a:prstGeom>
        </p:spPr>
      </p:pic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17A98D3-AC19-8997-465D-4F191362A352}"/>
              </a:ext>
            </a:extLst>
          </p:cNvPr>
          <p:cNvCxnSpPr>
            <a:cxnSpLocks/>
          </p:cNvCxnSpPr>
          <p:nvPr/>
        </p:nvCxnSpPr>
        <p:spPr>
          <a:xfrm flipH="1">
            <a:off x="7214629" y="3457685"/>
            <a:ext cx="23952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BB907C39-7A7A-7214-591C-3BDFB6B104A7}"/>
              </a:ext>
            </a:extLst>
          </p:cNvPr>
          <p:cNvCxnSpPr>
            <a:cxnSpLocks/>
          </p:cNvCxnSpPr>
          <p:nvPr/>
        </p:nvCxnSpPr>
        <p:spPr>
          <a:xfrm>
            <a:off x="7239628" y="3329681"/>
            <a:ext cx="234405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393C4B88-7811-9B8C-6DA1-8FD700E4A0C8}"/>
              </a:ext>
            </a:extLst>
          </p:cNvPr>
          <p:cNvSpPr txBox="1"/>
          <p:nvPr/>
        </p:nvSpPr>
        <p:spPr>
          <a:xfrm>
            <a:off x="7424129" y="2906817"/>
            <a:ext cx="196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Défi calculatoire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7BB999-0BF9-7941-5955-C63CB3888B17}"/>
              </a:ext>
            </a:extLst>
          </p:cNvPr>
          <p:cNvSpPr txBox="1"/>
          <p:nvPr/>
        </p:nvSpPr>
        <p:spPr>
          <a:xfrm>
            <a:off x="7437675" y="3454556"/>
            <a:ext cx="1961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Réponse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7526E9-1329-C6C1-E28A-DAE4FE6D68D3}"/>
              </a:ext>
            </a:extLst>
          </p:cNvPr>
          <p:cNvCxnSpPr>
            <a:cxnSpLocks/>
          </p:cNvCxnSpPr>
          <p:nvPr/>
        </p:nvCxnSpPr>
        <p:spPr>
          <a:xfrm flipH="1">
            <a:off x="2911413" y="3661730"/>
            <a:ext cx="23952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C7BFA6F-E1EA-6020-9BCE-A6BEBD595A93}"/>
              </a:ext>
            </a:extLst>
          </p:cNvPr>
          <p:cNvCxnSpPr>
            <a:cxnSpLocks/>
          </p:cNvCxnSpPr>
          <p:nvPr/>
        </p:nvCxnSpPr>
        <p:spPr>
          <a:xfrm>
            <a:off x="2962557" y="3823888"/>
            <a:ext cx="234405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7B5A744-6FC5-FAEF-BE46-F6DD05BD8C96}"/>
              </a:ext>
            </a:extLst>
          </p:cNvPr>
          <p:cNvSpPr txBox="1"/>
          <p:nvPr/>
        </p:nvSpPr>
        <p:spPr>
          <a:xfrm>
            <a:off x="3343924" y="3269890"/>
            <a:ext cx="15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Requête</a:t>
            </a:r>
          </a:p>
        </p:txBody>
      </p:sp>
      <p:pic>
        <p:nvPicPr>
          <p:cNvPr id="24" name="Picture 23" descr="📄 Page Facing Up Emoji: Meaning &amp; Usage">
            <a:extLst>
              <a:ext uri="{FF2B5EF4-FFF2-40B4-BE49-F238E27FC236}">
                <a16:creationId xmlns:a16="http://schemas.microsoft.com/office/drawing/2014/main" id="{51FC7770-7E33-FE7D-63BB-EE3EF9F9E9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1315" y="3951237"/>
            <a:ext cx="1052744" cy="1052744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0F63DB71-02B7-D74C-ED4E-5F54AF0DA174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I. Présentation du software et des scrapers</a:t>
            </a:r>
          </a:p>
        </p:txBody>
      </p:sp>
    </p:spTree>
    <p:extLst>
      <p:ext uri="{BB962C8B-B14F-4D97-AF65-F5344CB8AC3E}">
        <p14:creationId xmlns:p14="http://schemas.microsoft.com/office/powerpoint/2010/main" val="920050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9" grpId="0"/>
      <p:bldP spid="20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2E7CD-898E-253D-FAD0-1792E91A28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DB6C8F-ADC3-993B-A914-3825DF560BDD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noProof="0" dirty="0"/>
              <a:t>Le défi calculatoire : PoW (Proof of Work)</a:t>
            </a:r>
          </a:p>
        </p:txBody>
      </p:sp>
      <p:pic>
        <p:nvPicPr>
          <p:cNvPr id="10" name="Picture 9" descr="Serveur - Icônes la technologie gratuites">
            <a:extLst>
              <a:ext uri="{FF2B5EF4-FFF2-40B4-BE49-F238E27FC236}">
                <a16:creationId xmlns:a16="http://schemas.microsoft.com/office/drawing/2014/main" id="{73636DC7-EE31-F22E-F906-BAAA3D968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6070" y="2092617"/>
            <a:ext cx="1727886" cy="17278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F54A0A2-7600-A0B4-621D-B7BEA583E4BF}"/>
              </a:ext>
            </a:extLst>
          </p:cNvPr>
          <p:cNvSpPr txBox="1"/>
          <p:nvPr/>
        </p:nvSpPr>
        <p:spPr>
          <a:xfrm>
            <a:off x="7024924" y="3820503"/>
            <a:ext cx="15301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Client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622571-0D03-5D9A-BADA-DE20933FAC60}"/>
              </a:ext>
            </a:extLst>
          </p:cNvPr>
          <p:cNvCxnSpPr>
            <a:cxnSpLocks/>
          </p:cNvCxnSpPr>
          <p:nvPr/>
        </p:nvCxnSpPr>
        <p:spPr>
          <a:xfrm flipH="1">
            <a:off x="4305153" y="2811907"/>
            <a:ext cx="2395200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DFC5129-DB42-795F-2A52-D733CD6DED1D}"/>
              </a:ext>
            </a:extLst>
          </p:cNvPr>
          <p:cNvCxnSpPr>
            <a:cxnSpLocks/>
          </p:cNvCxnSpPr>
          <p:nvPr/>
        </p:nvCxnSpPr>
        <p:spPr>
          <a:xfrm>
            <a:off x="4356297" y="2562317"/>
            <a:ext cx="234405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1F5A7BE-7481-4219-E09F-BA831D35F04A}"/>
              </a:ext>
            </a:extLst>
          </p:cNvPr>
          <p:cNvSpPr txBox="1"/>
          <p:nvPr/>
        </p:nvSpPr>
        <p:spPr>
          <a:xfrm>
            <a:off x="4469201" y="1849703"/>
            <a:ext cx="21789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Challenge (</a:t>
            </a:r>
            <a:r>
              <a:rPr lang="fr-FR" noProof="0" dirty="0" err="1"/>
              <a:t>str</a:t>
            </a:r>
            <a:r>
              <a:rPr lang="fr-FR" dirty="0"/>
              <a:t>) &amp; Difficulté (</a:t>
            </a:r>
            <a:r>
              <a:rPr lang="fr-FR" dirty="0" err="1"/>
              <a:t>int</a:t>
            </a:r>
            <a:r>
              <a:rPr lang="fr-FR" dirty="0"/>
              <a:t>)</a:t>
            </a:r>
            <a:endParaRPr lang="fr-FR" noProof="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138C5A-F78D-1DF3-7045-1CDCD4C8B264}"/>
              </a:ext>
            </a:extLst>
          </p:cNvPr>
          <p:cNvSpPr txBox="1"/>
          <p:nvPr/>
        </p:nvSpPr>
        <p:spPr>
          <a:xfrm>
            <a:off x="8777523" y="2249934"/>
            <a:ext cx="38465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 err="1"/>
              <a:t>while</a:t>
            </a:r>
            <a:r>
              <a:rPr lang="fr-FR" noProof="0" dirty="0"/>
              <a:t> (sha256(</a:t>
            </a:r>
            <a:r>
              <a:rPr lang="fr-FR" noProof="0" dirty="0" err="1"/>
              <a:t>str</a:t>
            </a:r>
            <a:r>
              <a:rPr lang="fr-FR" noProof="0" dirty="0"/>
              <a:t> + nonce) != 0…0123456789) :</a:t>
            </a:r>
          </a:p>
          <a:p>
            <a:r>
              <a:rPr lang="fr-FR" dirty="0"/>
              <a:t>	nonce += 1</a:t>
            </a:r>
            <a:endParaRPr lang="fr-FR" noProof="0" dirty="0"/>
          </a:p>
        </p:txBody>
      </p:sp>
      <p:pic>
        <p:nvPicPr>
          <p:cNvPr id="27" name="Picture 26" descr="Anubis (software) - Wikipedia">
            <a:extLst>
              <a:ext uri="{FF2B5EF4-FFF2-40B4-BE49-F238E27FC236}">
                <a16:creationId xmlns:a16="http://schemas.microsoft.com/office/drawing/2014/main" id="{75B00427-640F-DC2C-7BDD-47A6C2AD8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344" y="2018157"/>
            <a:ext cx="1587500" cy="158750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08385548-5A6E-6B3A-4440-BF0275CB405B}"/>
              </a:ext>
            </a:extLst>
          </p:cNvPr>
          <p:cNvSpPr txBox="1"/>
          <p:nvPr/>
        </p:nvSpPr>
        <p:spPr>
          <a:xfrm>
            <a:off x="4092424" y="2885482"/>
            <a:ext cx="293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nonce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D2C187C-44D7-E322-74C0-7C15BEE5804A}"/>
              </a:ext>
            </a:extLst>
          </p:cNvPr>
          <p:cNvCxnSpPr>
            <a:cxnSpLocks/>
          </p:cNvCxnSpPr>
          <p:nvPr/>
        </p:nvCxnSpPr>
        <p:spPr>
          <a:xfrm>
            <a:off x="4356297" y="3752885"/>
            <a:ext cx="2344056" cy="0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7D357D3C-A193-6054-D4C2-EBF05690BAF0}"/>
              </a:ext>
            </a:extLst>
          </p:cNvPr>
          <p:cNvSpPr txBox="1"/>
          <p:nvPr/>
        </p:nvSpPr>
        <p:spPr>
          <a:xfrm>
            <a:off x="199571" y="2956560"/>
            <a:ext cx="3846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sha256(</a:t>
            </a:r>
            <a:r>
              <a:rPr lang="fr-FR" noProof="0" dirty="0" err="1"/>
              <a:t>str</a:t>
            </a:r>
            <a:r>
              <a:rPr lang="fr-FR" noProof="0" dirty="0"/>
              <a:t> + nonce) </a:t>
            </a:r>
            <a:r>
              <a:rPr lang="fr-FR" dirty="0"/>
              <a:t>=</a:t>
            </a:r>
            <a:r>
              <a:rPr lang="fr-FR" noProof="0" dirty="0"/>
              <a:t>= 0…0123456789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2602943-BDAA-9130-35D6-86C7CFD232F9}"/>
              </a:ext>
            </a:extLst>
          </p:cNvPr>
          <p:cNvSpPr txBox="1"/>
          <p:nvPr/>
        </p:nvSpPr>
        <p:spPr>
          <a:xfrm>
            <a:off x="4092424" y="3352992"/>
            <a:ext cx="293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noProof="0" dirty="0"/>
              <a:t>cookie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BE81D1B-CFAB-BE4D-D97F-2ADE59C90B1B}"/>
              </a:ext>
            </a:extLst>
          </p:cNvPr>
          <p:cNvSpPr txBox="1"/>
          <p:nvPr/>
        </p:nvSpPr>
        <p:spPr>
          <a:xfrm>
            <a:off x="2527780" y="4301176"/>
            <a:ext cx="71364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Avantages</a:t>
            </a:r>
            <a:r>
              <a:rPr lang="en-US" sz="2000" dirty="0"/>
              <a:t> 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Execution </a:t>
            </a:r>
            <a:r>
              <a:rPr lang="en-US" sz="2000" dirty="0" err="1"/>
              <a:t>en</a:t>
            </a:r>
            <a:r>
              <a:rPr lang="en-US" sz="2000" dirty="0"/>
              <a:t> JS (</a:t>
            </a:r>
            <a:r>
              <a:rPr lang="en-US" sz="2000" dirty="0" err="1"/>
              <a:t>explorateur</a:t>
            </a:r>
            <a:r>
              <a:rPr lang="en-US" sz="2000" dirty="0"/>
              <a:t> internet </a:t>
            </a:r>
            <a:r>
              <a:rPr lang="en-US" sz="2000" dirty="0" err="1"/>
              <a:t>impératif</a:t>
            </a:r>
            <a:r>
              <a:rPr lang="en-US" sz="2000" dirty="0"/>
              <a:t>)</a:t>
            </a:r>
          </a:p>
          <a:p>
            <a:pPr marL="285750" indent="-285750">
              <a:buFontTx/>
              <a:buChar char="-"/>
            </a:pPr>
            <a:r>
              <a:rPr lang="en-US" sz="2000" dirty="0" err="1"/>
              <a:t>Couteux</a:t>
            </a:r>
            <a:r>
              <a:rPr lang="en-US" sz="2000" dirty="0"/>
              <a:t> pour le </a:t>
            </a:r>
            <a:r>
              <a:rPr lang="en-US" sz="2000" dirty="0" err="1"/>
              <a:t>scrapeur</a:t>
            </a:r>
            <a:r>
              <a:rPr lang="en-US" sz="2000" dirty="0"/>
              <a:t>, trivial pour le </a:t>
            </a:r>
            <a:r>
              <a:rPr lang="en-US" sz="2000" dirty="0" err="1"/>
              <a:t>serveur</a:t>
            </a:r>
            <a:endParaRPr lang="en-US" sz="2000" dirty="0"/>
          </a:p>
          <a:p>
            <a:r>
              <a:rPr lang="en-US" sz="2000" dirty="0" err="1"/>
              <a:t>Inconvénient</a:t>
            </a:r>
            <a:r>
              <a:rPr lang="en-US" sz="2000" dirty="0"/>
              <a:t> :</a:t>
            </a:r>
          </a:p>
          <a:p>
            <a:pPr marL="285750" indent="-285750">
              <a:buFontTx/>
              <a:buChar char="-"/>
            </a:pPr>
            <a:r>
              <a:rPr lang="en-US" sz="2000" dirty="0"/>
              <a:t>Moment de pause à </a:t>
            </a:r>
            <a:r>
              <a:rPr lang="en-US" sz="2000" dirty="0" err="1"/>
              <a:t>l’arrivée</a:t>
            </a:r>
            <a:r>
              <a:rPr lang="en-US" sz="2000" dirty="0"/>
              <a:t> d’un </a:t>
            </a:r>
            <a:r>
              <a:rPr lang="en-US" sz="2000" dirty="0" err="1"/>
              <a:t>utilisateur</a:t>
            </a:r>
            <a:endParaRPr lang="en-US" sz="2000" dirty="0"/>
          </a:p>
          <a:p>
            <a:pPr marL="285750" indent="-285750">
              <a:buFontTx/>
              <a:buChar char="-"/>
            </a:pPr>
            <a:endParaRPr lang="en-US" sz="20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E42224-ADFC-A3C7-849F-E87831483257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I. Présentation du software et des scrapers</a:t>
            </a:r>
          </a:p>
        </p:txBody>
      </p:sp>
    </p:spTree>
    <p:extLst>
      <p:ext uri="{BB962C8B-B14F-4D97-AF65-F5344CB8AC3E}">
        <p14:creationId xmlns:p14="http://schemas.microsoft.com/office/powerpoint/2010/main" val="382021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28" grpId="0"/>
      <p:bldP spid="30" grpId="0"/>
      <p:bldP spid="31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9DA1C-7ABD-D466-974E-D759D5735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784535D-FD92-5BA2-71C7-3712BEAA0FAD}"/>
              </a:ext>
            </a:extLst>
          </p:cNvPr>
          <p:cNvSpPr txBox="1"/>
          <p:nvPr/>
        </p:nvSpPr>
        <p:spPr>
          <a:xfrm>
            <a:off x="1353880" y="3075057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II.		</a:t>
            </a:r>
            <a:r>
              <a:rPr lang="fr-FR" sz="4000" noProof="0" dirty="0"/>
              <a:t>Application sur une maquette Docker</a:t>
            </a:r>
          </a:p>
        </p:txBody>
      </p:sp>
    </p:spTree>
    <p:extLst>
      <p:ext uri="{BB962C8B-B14F-4D97-AF65-F5344CB8AC3E}">
        <p14:creationId xmlns:p14="http://schemas.microsoft.com/office/powerpoint/2010/main" val="182138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888A94-B62F-4DA3-2BDF-864DF13BC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8483DD5-E0DB-2725-906A-2CC7FFC56C6B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L’i</a:t>
            </a:r>
            <a:r>
              <a:rPr lang="fr-FR" sz="4000" noProof="0" dirty="0" err="1"/>
              <a:t>nstallation</a:t>
            </a:r>
            <a:r>
              <a:rPr lang="fr-FR" sz="4000" noProof="0" dirty="0"/>
              <a:t> d’Anubis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C60A4-A589-D966-8262-5CFB08D0726E}"/>
              </a:ext>
            </a:extLst>
          </p:cNvPr>
          <p:cNvSpPr txBox="1"/>
          <p:nvPr/>
        </p:nvSpPr>
        <p:spPr>
          <a:xfrm>
            <a:off x="1353880" y="1745094"/>
            <a:ext cx="62084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fr-FR" sz="2800" noProof="0" dirty="0"/>
              <a:t>Image docker préexistante</a:t>
            </a:r>
          </a:p>
          <a:p>
            <a:pPr marL="457200" indent="-457200">
              <a:buFontTx/>
              <a:buChar char="-"/>
            </a:pPr>
            <a:endParaRPr lang="fr-FR" sz="2800" dirty="0"/>
          </a:p>
          <a:p>
            <a:pPr marL="457200" indent="-457200">
              <a:buFontTx/>
              <a:buChar char="-"/>
            </a:pPr>
            <a:r>
              <a:rPr lang="fr-FR" sz="2800" noProof="0" dirty="0"/>
              <a:t>Configuration </a:t>
            </a:r>
            <a:r>
              <a:rPr lang="fr-FR" sz="2800" noProof="0" dirty="0" err="1"/>
              <a:t>policies.yaml</a:t>
            </a:r>
            <a:endParaRPr lang="fr-FR" sz="2800" noProof="0" dirty="0"/>
          </a:p>
          <a:p>
            <a:pPr marL="457200" indent="-457200">
              <a:buFontTx/>
              <a:buChar char="-"/>
            </a:pPr>
            <a:endParaRPr lang="fr-FR" sz="2800" dirty="0"/>
          </a:p>
          <a:p>
            <a:pPr marL="457200" indent="-457200">
              <a:buFontTx/>
              <a:buChar char="-"/>
            </a:pPr>
            <a:r>
              <a:rPr lang="fr-FR" sz="2800" noProof="0" dirty="0"/>
              <a:t>Configuration réseau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879F49-377E-9210-8F28-3B62D7AA60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26"/>
          <a:stretch>
            <a:fillRect/>
          </a:stretch>
        </p:blipFill>
        <p:spPr>
          <a:xfrm>
            <a:off x="7203815" y="3484605"/>
            <a:ext cx="4102442" cy="1006202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E9B22E-1D00-5E0D-2A64-8899B1D7D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3815" y="957745"/>
            <a:ext cx="3731915" cy="1480429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64A5F63-1922-2F73-F8C6-1C48B44EA4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3880" y="4485503"/>
            <a:ext cx="5595637" cy="2152168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BCCA0B-4FA6-E02C-F552-D61F20464F3F}"/>
              </a:ext>
            </a:extLst>
          </p:cNvPr>
          <p:cNvSpPr txBox="1"/>
          <p:nvPr/>
        </p:nvSpPr>
        <p:spPr>
          <a:xfrm>
            <a:off x="7187302" y="496073"/>
            <a:ext cx="3365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Pages autorisées sans challenge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BC825C-017C-4A6D-0537-2D9B074ACE01}"/>
              </a:ext>
            </a:extLst>
          </p:cNvPr>
          <p:cNvSpPr txBox="1"/>
          <p:nvPr/>
        </p:nvSpPr>
        <p:spPr>
          <a:xfrm>
            <a:off x="7187301" y="3093707"/>
            <a:ext cx="3859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Blocage automatique de bots connus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A8AC01-1917-4580-E707-544ABF411943}"/>
              </a:ext>
            </a:extLst>
          </p:cNvPr>
          <p:cNvSpPr txBox="1"/>
          <p:nvPr/>
        </p:nvSpPr>
        <p:spPr>
          <a:xfrm>
            <a:off x="1353880" y="4116171"/>
            <a:ext cx="3859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noProof="0" dirty="0"/>
              <a:t>Personnalisation du challenge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D86B59-DBDF-5E12-C500-8C1EDE21C0BD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II. </a:t>
            </a:r>
            <a:r>
              <a:rPr lang="fr-FR" dirty="0"/>
              <a:t>Application sur une maquette Docker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755704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7500E-E9BE-0AB7-05D1-E09E617B9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0818A4-D7F6-CD85-DF7C-0BB25A450363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Le </a:t>
            </a:r>
            <a:r>
              <a:rPr lang="fr-FR" sz="4000" dirty="0" err="1"/>
              <a:t>webApp</a:t>
            </a:r>
            <a:r>
              <a:rPr lang="fr-FR" sz="4000" dirty="0"/>
              <a:t> &amp; les scrapeurs </a:t>
            </a:r>
            <a:endParaRPr lang="fr-FR" sz="40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455E14-91FD-6A12-9C7A-5D8A9E989062}"/>
              </a:ext>
            </a:extLst>
          </p:cNvPr>
          <p:cNvSpPr txBox="1"/>
          <p:nvPr/>
        </p:nvSpPr>
        <p:spPr>
          <a:xfrm>
            <a:off x="1353879" y="1843950"/>
            <a:ext cx="1032325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fr-FR" sz="2800" dirty="0" err="1"/>
              <a:t>webApp</a:t>
            </a:r>
            <a:r>
              <a:rPr lang="fr-FR" sz="2800" dirty="0"/>
              <a:t> conçu pour tester les capacités des scrapeurs, 45 pages</a:t>
            </a:r>
          </a:p>
          <a:p>
            <a:pPr marL="457200" indent="-457200">
              <a:buFontTx/>
              <a:buChar char="-"/>
            </a:pPr>
            <a:endParaRPr lang="fr-FR" sz="2800" noProof="0" dirty="0"/>
          </a:p>
          <a:p>
            <a:pPr marL="457200" indent="-457200">
              <a:buFontTx/>
              <a:buChar char="-"/>
            </a:pPr>
            <a:r>
              <a:rPr lang="fr-FR" sz="2800" dirty="0"/>
              <a:t>Scrapeur simple : </a:t>
            </a:r>
            <a:r>
              <a:rPr lang="fr-FR" sz="2800" dirty="0" err="1"/>
              <a:t>BeautifulSoup</a:t>
            </a:r>
            <a:r>
              <a:rPr lang="fr-FR" sz="2800" dirty="0"/>
              <a:t> (</a:t>
            </a:r>
            <a:r>
              <a:rPr lang="fr-FR" sz="2800" dirty="0" err="1"/>
              <a:t>py</a:t>
            </a:r>
            <a:r>
              <a:rPr lang="fr-FR" sz="2800" dirty="0"/>
              <a:t>)</a:t>
            </a:r>
          </a:p>
          <a:p>
            <a:pPr marL="457200" indent="-457200">
              <a:buFontTx/>
              <a:buChar char="-"/>
            </a:pPr>
            <a:endParaRPr lang="fr-FR" sz="2800" noProof="0" dirty="0"/>
          </a:p>
          <a:p>
            <a:pPr marL="457200" indent="-457200">
              <a:buFontTx/>
              <a:buChar char="-"/>
            </a:pPr>
            <a:r>
              <a:rPr lang="fr-FR" sz="2800" dirty="0"/>
              <a:t>Scrapeur moyen : </a:t>
            </a:r>
            <a:r>
              <a:rPr lang="fr-FR" sz="2800" dirty="0" err="1"/>
              <a:t>Selenium</a:t>
            </a:r>
            <a:r>
              <a:rPr lang="fr-FR" sz="2800" dirty="0"/>
              <a:t> (</a:t>
            </a:r>
            <a:r>
              <a:rPr lang="fr-FR" sz="2800" dirty="0" err="1"/>
              <a:t>py</a:t>
            </a:r>
            <a:r>
              <a:rPr lang="fr-FR" sz="2800" dirty="0"/>
              <a:t>)</a:t>
            </a:r>
          </a:p>
          <a:p>
            <a:pPr marL="457200" indent="-457200">
              <a:buFontTx/>
              <a:buChar char="-"/>
            </a:pPr>
            <a:endParaRPr lang="fr-FR" sz="2800" noProof="0" dirty="0"/>
          </a:p>
          <a:p>
            <a:pPr marL="457200" indent="-457200">
              <a:buFontTx/>
              <a:buChar char="-"/>
            </a:pPr>
            <a:r>
              <a:rPr lang="fr-FR" sz="2800" dirty="0"/>
              <a:t>Scrapeur complexe : </a:t>
            </a:r>
            <a:r>
              <a:rPr lang="fr-FR" sz="2800" dirty="0" err="1"/>
              <a:t>Scrapy</a:t>
            </a:r>
            <a:r>
              <a:rPr lang="fr-FR" sz="2800" dirty="0"/>
              <a:t> (</a:t>
            </a:r>
            <a:r>
              <a:rPr lang="fr-FR" sz="2800" dirty="0" err="1"/>
              <a:t>py</a:t>
            </a:r>
            <a:r>
              <a:rPr lang="fr-FR" sz="2800" dirty="0"/>
              <a:t>)</a:t>
            </a:r>
            <a:endParaRPr lang="fr-FR" sz="2800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0F23723-270B-86D1-6C4B-B372E3579D0E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II. </a:t>
            </a:r>
            <a:r>
              <a:rPr lang="fr-FR" dirty="0"/>
              <a:t>Application sur une maquette Docker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7295082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58DDD-15D5-A891-6E28-08E832CEA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524CDC-4BA1-C2F4-A172-892076A19CE9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err="1"/>
              <a:t>BeautifulSoup</a:t>
            </a:r>
            <a:endParaRPr lang="fr-FR" sz="40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72B511-88B4-002D-D6CE-F6DEE2A1C4D9}"/>
              </a:ext>
            </a:extLst>
          </p:cNvPr>
          <p:cNvSpPr txBox="1"/>
          <p:nvPr/>
        </p:nvSpPr>
        <p:spPr>
          <a:xfrm>
            <a:off x="1353879" y="1843950"/>
            <a:ext cx="1032325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fr-FR" sz="2800" dirty="0" err="1"/>
              <a:t>Request.session</a:t>
            </a:r>
            <a:r>
              <a:rPr lang="fr-FR" sz="2800" dirty="0"/>
              <a:t>() -&gt; </a:t>
            </a:r>
            <a:r>
              <a:rPr lang="fr-FR" sz="2800" dirty="0" err="1"/>
              <a:t>get</a:t>
            </a:r>
            <a:r>
              <a:rPr lang="fr-FR" sz="2800" dirty="0"/>
              <a:t>()</a:t>
            </a:r>
          </a:p>
          <a:p>
            <a:pPr marL="457200" indent="-457200">
              <a:buFontTx/>
              <a:buChar char="-"/>
            </a:pPr>
            <a:endParaRPr lang="fr-FR" sz="2800" noProof="0" dirty="0"/>
          </a:p>
          <a:p>
            <a:pPr marL="457200" indent="-457200">
              <a:buFontTx/>
              <a:buChar char="-"/>
            </a:pPr>
            <a:r>
              <a:rPr lang="fr-FR" sz="2800" dirty="0"/>
              <a:t>Recherche naïve en suivant récursivement les </a:t>
            </a:r>
            <a:r>
              <a:rPr lang="fr-FR" sz="2800" dirty="0" err="1"/>
              <a:t>hyperlinks</a:t>
            </a:r>
            <a:r>
              <a:rPr lang="fr-FR" sz="2800" dirty="0"/>
              <a:t> trouvés</a:t>
            </a:r>
          </a:p>
          <a:p>
            <a:pPr marL="457200" indent="-457200">
              <a:buFontTx/>
              <a:buChar char="-"/>
            </a:pPr>
            <a:endParaRPr lang="fr-FR" sz="2800" noProof="0" dirty="0"/>
          </a:p>
          <a:p>
            <a:pPr marL="457200" indent="-457200">
              <a:buFontTx/>
              <a:buChar char="-"/>
            </a:pPr>
            <a:r>
              <a:rPr lang="fr-FR" sz="2800" dirty="0"/>
              <a:t>Thread unique</a:t>
            </a:r>
            <a:endParaRPr lang="fr-FR" sz="2800" noProof="0" dirty="0"/>
          </a:p>
        </p:txBody>
      </p:sp>
      <p:pic>
        <p:nvPicPr>
          <p:cNvPr id="2" name="Picture 1" descr="Exploring Web Scraping with Beautiful Soup in Python | by Pratik Shrestha |  Medium">
            <a:extLst>
              <a:ext uri="{FF2B5EF4-FFF2-40B4-BE49-F238E27FC236}">
                <a16:creationId xmlns:a16="http://schemas.microsoft.com/office/drawing/2014/main" id="{B2A5CB28-60FB-48C5-2108-AE2257134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191" y="377340"/>
            <a:ext cx="3150943" cy="1354906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67A12E6-3D9A-2A24-1C3E-13471FAB39B3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II. </a:t>
            </a:r>
            <a:r>
              <a:rPr lang="fr-FR" dirty="0"/>
              <a:t>Application sur une maquette Docker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374097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17B84-503E-28E1-B79B-9969F25D5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40F97E9-AFAC-0C9D-D4EA-AA8BAB2B945C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err="1"/>
              <a:t>Selenium</a:t>
            </a:r>
            <a:endParaRPr lang="fr-FR" sz="40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66A523-3550-490B-FAB1-E1E0695FAFB0}"/>
              </a:ext>
            </a:extLst>
          </p:cNvPr>
          <p:cNvSpPr txBox="1"/>
          <p:nvPr/>
        </p:nvSpPr>
        <p:spPr>
          <a:xfrm>
            <a:off x="1353879" y="1843950"/>
            <a:ext cx="1032325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fr-FR" sz="2800" dirty="0"/>
              <a:t>Navigateur </a:t>
            </a:r>
            <a:r>
              <a:rPr lang="fr-FR" sz="2800" dirty="0" err="1"/>
              <a:t>headless</a:t>
            </a:r>
            <a:r>
              <a:rPr lang="fr-FR" sz="2800" dirty="0"/>
              <a:t> (Navigateur sans affichage graphique)</a:t>
            </a:r>
          </a:p>
          <a:p>
            <a:pPr marL="457200" indent="-457200">
              <a:buFontTx/>
              <a:buChar char="-"/>
            </a:pPr>
            <a:endParaRPr lang="fr-FR" sz="2800" dirty="0"/>
          </a:p>
          <a:p>
            <a:pPr marL="457200" indent="-457200">
              <a:buFontTx/>
              <a:buChar char="-"/>
            </a:pPr>
            <a:r>
              <a:rPr lang="fr-FR" sz="2800" dirty="0"/>
              <a:t>Exécute JS, recherche dans toute la page (</a:t>
            </a:r>
            <a:r>
              <a:rPr lang="fr-FR" sz="2800" dirty="0" err="1"/>
              <a:t>lazy</a:t>
            </a:r>
            <a:r>
              <a:rPr lang="fr-FR" sz="2800" dirty="0"/>
              <a:t> </a:t>
            </a:r>
            <a:r>
              <a:rPr lang="fr-FR" sz="2800" dirty="0" err="1"/>
              <a:t>loading</a:t>
            </a:r>
            <a:r>
              <a:rPr lang="fr-FR" sz="2800" dirty="0"/>
              <a:t>), et à plusieurs niveaux</a:t>
            </a:r>
          </a:p>
          <a:p>
            <a:pPr marL="457200" indent="-457200">
              <a:buFontTx/>
              <a:buChar char="-"/>
            </a:pPr>
            <a:endParaRPr lang="fr-FR" sz="2800" noProof="0" dirty="0"/>
          </a:p>
          <a:p>
            <a:pPr marL="457200" indent="-457200">
              <a:buFontTx/>
              <a:buChar char="-"/>
            </a:pPr>
            <a:r>
              <a:rPr lang="fr-FR" sz="2800" dirty="0"/>
              <a:t>Recherche naïve en suivant récursivement les </a:t>
            </a:r>
            <a:r>
              <a:rPr lang="fr-FR" sz="2800" dirty="0" err="1"/>
              <a:t>hyperlinks</a:t>
            </a:r>
            <a:r>
              <a:rPr lang="fr-FR" sz="2800" dirty="0"/>
              <a:t> trouvés</a:t>
            </a:r>
          </a:p>
          <a:p>
            <a:pPr marL="457200" indent="-457200">
              <a:buFontTx/>
              <a:buChar char="-"/>
            </a:pPr>
            <a:endParaRPr lang="fr-FR" sz="2800" noProof="0" dirty="0"/>
          </a:p>
          <a:p>
            <a:pPr marL="457200" indent="-457200">
              <a:buFontTx/>
              <a:buChar char="-"/>
            </a:pPr>
            <a:r>
              <a:rPr lang="fr-FR" sz="2800" noProof="0" dirty="0"/>
              <a:t>Thread unique</a:t>
            </a:r>
          </a:p>
        </p:txBody>
      </p:sp>
      <p:pic>
        <p:nvPicPr>
          <p:cNvPr id="5" name="Picture 4" descr="Starting Selenium with Python. Selenium is a free (open-source)… | by  Fauzan Budi S | Medium">
            <a:extLst>
              <a:ext uri="{FF2B5EF4-FFF2-40B4-BE49-F238E27FC236}">
                <a16:creationId xmlns:a16="http://schemas.microsoft.com/office/drawing/2014/main" id="{5A6821DA-182E-3767-90E7-88E7267757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815" b="13104"/>
          <a:stretch>
            <a:fillRect/>
          </a:stretch>
        </p:blipFill>
        <p:spPr>
          <a:xfrm>
            <a:off x="8266670" y="339622"/>
            <a:ext cx="3410464" cy="1309562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C09BFD-BE57-1112-FFD9-B08FDDCD50A3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II. </a:t>
            </a:r>
            <a:r>
              <a:rPr lang="fr-FR" dirty="0"/>
              <a:t>Application sur une maquette Docker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7386814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665E45-A6A3-21A3-FE26-CB65E81F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D4CC5A-F0E7-8A5C-C221-CE346DB891F6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 err="1"/>
              <a:t>Scrapy</a:t>
            </a:r>
            <a:endParaRPr lang="fr-FR" sz="40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334BD-A25A-9DCF-3C79-53060F2B8D57}"/>
              </a:ext>
            </a:extLst>
          </p:cNvPr>
          <p:cNvSpPr txBox="1"/>
          <p:nvPr/>
        </p:nvSpPr>
        <p:spPr>
          <a:xfrm>
            <a:off x="1353880" y="1843950"/>
            <a:ext cx="662858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fr-FR" sz="2800" dirty="0"/>
              <a:t>Sélection facilitée des données</a:t>
            </a:r>
          </a:p>
          <a:p>
            <a:pPr marL="457200" indent="-457200">
              <a:buFontTx/>
              <a:buChar char="-"/>
            </a:pPr>
            <a:endParaRPr lang="fr-FR" sz="2800" dirty="0"/>
          </a:p>
          <a:p>
            <a:pPr marL="457200" indent="-457200">
              <a:buFontTx/>
              <a:buChar char="-"/>
            </a:pPr>
            <a:r>
              <a:rPr lang="fr-FR" sz="2800" dirty="0"/>
              <a:t>Grand nombre de fonctionnalités déjà implémentées</a:t>
            </a:r>
          </a:p>
          <a:p>
            <a:pPr marL="457200" indent="-457200">
              <a:buFontTx/>
              <a:buChar char="-"/>
            </a:pPr>
            <a:endParaRPr lang="fr-FR" sz="2800" dirty="0"/>
          </a:p>
          <a:p>
            <a:pPr marL="457200" indent="-457200">
              <a:buFontTx/>
              <a:buChar char="-"/>
            </a:pPr>
            <a:r>
              <a:rPr lang="fr-FR" sz="2800" dirty="0"/>
              <a:t>Projet divisé en plusieurs parties collaborant</a:t>
            </a:r>
          </a:p>
          <a:p>
            <a:endParaRPr lang="fr-FR" sz="2800" noProof="0" dirty="0"/>
          </a:p>
          <a:p>
            <a:pPr marL="457200" indent="-457200">
              <a:buFontTx/>
              <a:buChar char="-"/>
            </a:pPr>
            <a:r>
              <a:rPr lang="fr-FR" sz="2800" noProof="0" dirty="0" err="1"/>
              <a:t>Multi-thread</a:t>
            </a:r>
            <a:r>
              <a:rPr lang="fr-FR" sz="2800" noProof="0" dirty="0"/>
              <a:t> </a:t>
            </a:r>
            <a:r>
              <a:rPr lang="fr-FR" sz="2800" noProof="0" dirty="0" err="1"/>
              <a:t>inclu</a:t>
            </a:r>
            <a:endParaRPr lang="fr-FR" sz="2800" noProof="0" dirty="0"/>
          </a:p>
        </p:txBody>
      </p:sp>
      <p:pic>
        <p:nvPicPr>
          <p:cNvPr id="6" name="Picture 5" descr="GitHub - scrapy/scrapy: Scrapy, a fast high-level web crawling &amp; scraping framework for Python. · GitHub">
            <a:extLst>
              <a:ext uri="{FF2B5EF4-FFF2-40B4-BE49-F238E27FC236}">
                <a16:creationId xmlns:a16="http://schemas.microsoft.com/office/drawing/2014/main" id="{79D49C26-88B4-D2F1-3CFF-146FBC70E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5524" y="274158"/>
            <a:ext cx="3311610" cy="1645391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Picture 6" descr="Scrapy architecture">
            <a:extLst>
              <a:ext uri="{FF2B5EF4-FFF2-40B4-BE49-F238E27FC236}">
                <a16:creationId xmlns:a16="http://schemas.microsoft.com/office/drawing/2014/main" id="{F4581160-E3C1-24E8-B7A7-5081BB9567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3264" y="3274952"/>
            <a:ext cx="4542271" cy="3049810"/>
          </a:xfrm>
          <a:prstGeom prst="rect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F45946F-F1B7-C57A-94F5-7FFC72210539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II. </a:t>
            </a:r>
            <a:r>
              <a:rPr lang="fr-FR" dirty="0"/>
              <a:t>Application sur une maquette Docker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390796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BA258-56D5-6CA1-446B-6C4795C6D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5847074-CEC7-F74D-04D3-2F5766C720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5200081"/>
              </p:ext>
            </p:extLst>
          </p:nvPr>
        </p:nvGraphicFramePr>
        <p:xfrm>
          <a:off x="1110000" y="3322539"/>
          <a:ext cx="9972000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04000">
                  <a:extLst>
                    <a:ext uri="{9D8B030D-6E8A-4147-A177-3AD203B41FA5}">
                      <a16:colId xmlns:a16="http://schemas.microsoft.com/office/drawing/2014/main" val="257366232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842952966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593633015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98412646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547351364"/>
                    </a:ext>
                  </a:extLst>
                </a:gridCol>
              </a:tblGrid>
              <a:tr h="363219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Avec Anubis (4, fast) sans cookie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667084"/>
                  </a:ext>
                </a:extLst>
              </a:tr>
              <a:tr h="363219">
                <a:tc>
                  <a:txBody>
                    <a:bodyPr/>
                    <a:lstStyle/>
                    <a:p>
                      <a:r>
                        <a:rPr lang="en-US" dirty="0"/>
                        <a:t>Avec Anubis (diff 4) sans cookie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86.07s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33.82s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40650"/>
                  </a:ext>
                </a:extLst>
              </a:tr>
              <a:tr h="363219">
                <a:tc>
                  <a:txBody>
                    <a:bodyPr/>
                    <a:lstStyle/>
                    <a:p>
                      <a:r>
                        <a:rPr lang="en-US" dirty="0"/>
                        <a:t>Avec Anubis (diff 6) sans cookie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15.31s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5039s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2372s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47467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ED0DBD26-C799-2E2C-CB4C-D0DEA6007512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Les résultats</a:t>
            </a:r>
            <a:endParaRPr lang="fr-FR" sz="4000" noProof="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79D3281-F72A-D225-DEA9-992A87F05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074073"/>
              </p:ext>
            </p:extLst>
          </p:nvPr>
        </p:nvGraphicFramePr>
        <p:xfrm>
          <a:off x="1110000" y="2472070"/>
          <a:ext cx="9972000" cy="14780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04000">
                  <a:extLst>
                    <a:ext uri="{9D8B030D-6E8A-4147-A177-3AD203B41FA5}">
                      <a16:colId xmlns:a16="http://schemas.microsoft.com/office/drawing/2014/main" val="4004504851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07295963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465188604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176059016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309766985"/>
                    </a:ext>
                  </a:extLst>
                </a:gridCol>
              </a:tblGrid>
              <a:tr h="179036">
                <a:tc>
                  <a:txBody>
                    <a:bodyPr/>
                    <a:lstStyle/>
                    <a:p>
                      <a:r>
                        <a:rPr lang="en-US" dirty="0"/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Utilistateur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BeautifulSoup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Selenium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619"/>
                  </a:ext>
                </a:extLst>
              </a:tr>
              <a:tr h="375646">
                <a:tc>
                  <a:txBody>
                    <a:bodyPr/>
                    <a:lstStyle/>
                    <a:p>
                      <a:r>
                        <a:rPr lang="en-US" dirty="0"/>
                        <a:t>Sans Anubis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50.97s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489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Avec Anubis (diff 4) avec cookie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51.27s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7.26s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240301"/>
                  </a:ext>
                </a:extLst>
              </a:tr>
              <a:tr h="363219">
                <a:tc>
                  <a:txBody>
                    <a:bodyPr/>
                    <a:lstStyle/>
                    <a:p>
                      <a:r>
                        <a:rPr lang="en-US" dirty="0"/>
                        <a:t>Avec Anubis (diff 6) avec cookie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1.66s – 80.06s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53.23s – 61.73s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24.67s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0033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99E9B9B-E517-0731-A96E-6312AFF9CB12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II. </a:t>
            </a:r>
            <a:r>
              <a:rPr lang="fr-FR" dirty="0"/>
              <a:t>Application sur une maquette Docker</a:t>
            </a:r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860086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0C9F-9CAA-BA9F-2C81-3FE76C53D8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F467EF3-160E-61D6-58E3-B5498C7AA98F}"/>
              </a:ext>
            </a:extLst>
          </p:cNvPr>
          <p:cNvSpPr txBox="1"/>
          <p:nvPr/>
        </p:nvSpPr>
        <p:spPr>
          <a:xfrm>
            <a:off x="1353880" y="3075057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III.		</a:t>
            </a:r>
            <a:r>
              <a:rPr lang="fr-FR" sz="4000" noProof="0" dirty="0"/>
              <a:t>Bilan</a:t>
            </a:r>
          </a:p>
        </p:txBody>
      </p:sp>
    </p:spTree>
    <p:extLst>
      <p:ext uri="{BB962C8B-B14F-4D97-AF65-F5344CB8AC3E}">
        <p14:creationId xmlns:p14="http://schemas.microsoft.com/office/powerpoint/2010/main" val="19150639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BDF77-3ACC-38DD-C647-F69E944631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4E0C3C-F57D-1716-3DC5-C672F64D42D9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Garantir l’accessibilité pour l’utilisateur</a:t>
            </a:r>
            <a:endParaRPr lang="fr-FR" sz="40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DDFB42-9C44-96E7-2716-DE572613EDE9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III. Bilan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AAFFEE5-6434-E394-FB0F-4CDE32BDF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772260"/>
              </p:ext>
            </p:extLst>
          </p:nvPr>
        </p:nvGraphicFramePr>
        <p:xfrm>
          <a:off x="1110000" y="3322539"/>
          <a:ext cx="9972000" cy="13716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04000">
                  <a:extLst>
                    <a:ext uri="{9D8B030D-6E8A-4147-A177-3AD203B41FA5}">
                      <a16:colId xmlns:a16="http://schemas.microsoft.com/office/drawing/2014/main" val="257366232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842952966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593633015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298412646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547351364"/>
                    </a:ext>
                  </a:extLst>
                </a:gridCol>
              </a:tblGrid>
              <a:tr h="363219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Avec Anubis (4, fast) sans cookie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7667084"/>
                  </a:ext>
                </a:extLst>
              </a:tr>
              <a:tr h="363219">
                <a:tc>
                  <a:txBody>
                    <a:bodyPr/>
                    <a:lstStyle/>
                    <a:p>
                      <a:r>
                        <a:rPr lang="en-US" dirty="0"/>
                        <a:t>Avec Anubis (diff 4) sans cookie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0.64s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86.07s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33.82s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740650"/>
                  </a:ext>
                </a:extLst>
              </a:tr>
              <a:tr h="363219">
                <a:tc>
                  <a:txBody>
                    <a:bodyPr/>
                    <a:lstStyle/>
                    <a:p>
                      <a:r>
                        <a:rPr lang="en-US" dirty="0"/>
                        <a:t>Avec Anubis (diff 6) sans cookie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15.31s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5039s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2372s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47467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51B260C5-9D19-735B-23E0-EBDF72A6A4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8384925"/>
              </p:ext>
            </p:extLst>
          </p:nvPr>
        </p:nvGraphicFramePr>
        <p:xfrm>
          <a:off x="1110000" y="2472070"/>
          <a:ext cx="9972000" cy="147800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204000">
                  <a:extLst>
                    <a:ext uri="{9D8B030D-6E8A-4147-A177-3AD203B41FA5}">
                      <a16:colId xmlns:a16="http://schemas.microsoft.com/office/drawing/2014/main" val="4004504851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072959630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465188604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176059016"/>
                    </a:ext>
                  </a:extLst>
                </a:gridCol>
                <a:gridCol w="1692000">
                  <a:extLst>
                    <a:ext uri="{9D8B030D-6E8A-4147-A177-3AD203B41FA5}">
                      <a16:colId xmlns:a16="http://schemas.microsoft.com/office/drawing/2014/main" val="3309766985"/>
                    </a:ext>
                  </a:extLst>
                </a:gridCol>
              </a:tblGrid>
              <a:tr h="179036">
                <a:tc>
                  <a:txBody>
                    <a:bodyPr/>
                    <a:lstStyle/>
                    <a:p>
                      <a:r>
                        <a:rPr lang="en-US" dirty="0"/>
                        <a:t>Configuration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Utilistateur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BeautifulSoup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Selenium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Scrapy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849619"/>
                  </a:ext>
                </a:extLst>
              </a:tr>
              <a:tr h="375646">
                <a:tc>
                  <a:txBody>
                    <a:bodyPr/>
                    <a:lstStyle/>
                    <a:p>
                      <a:r>
                        <a:rPr lang="en-US" dirty="0"/>
                        <a:t>Sans Anubis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0.09s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0.12s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50.97s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6.32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54892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Avec Anubis (diff 4) avec cookie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0.57s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51.27s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7.26s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0240301"/>
                  </a:ext>
                </a:extLst>
              </a:tr>
              <a:tr h="363219">
                <a:tc>
                  <a:txBody>
                    <a:bodyPr/>
                    <a:lstStyle/>
                    <a:p>
                      <a:r>
                        <a:rPr lang="en-US" dirty="0"/>
                        <a:t>Avec Anubis (diff 6) avec cookie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1.66s – 80.06s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53.23s – 61.73s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24.67s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05003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914541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57650-FB5A-4758-2608-D6F5F9258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66D970E-19FC-9014-BA32-583E9BF51CDC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Est-ce vraiment contraignant ?</a:t>
            </a:r>
            <a:endParaRPr lang="fr-FR" sz="40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368954-A003-A98E-E423-151392B1D3F1}"/>
              </a:ext>
            </a:extLst>
          </p:cNvPr>
          <p:cNvSpPr txBox="1"/>
          <p:nvPr/>
        </p:nvSpPr>
        <p:spPr>
          <a:xfrm>
            <a:off x="1353879" y="1843950"/>
            <a:ext cx="1032325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fr-FR" sz="2800" dirty="0"/>
              <a:t>Electricité : 0,12€/kWh</a:t>
            </a:r>
          </a:p>
          <a:p>
            <a:pPr marL="457200" indent="-457200">
              <a:buFontTx/>
              <a:buChar char="-"/>
            </a:pPr>
            <a:r>
              <a:rPr lang="fr-FR" sz="2800" noProof="0" dirty="0"/>
              <a:t>Consommation électrique serveur : 0,25kWh</a:t>
            </a:r>
          </a:p>
          <a:p>
            <a:pPr marL="457200" indent="-457200">
              <a:buFontTx/>
              <a:buChar char="-"/>
            </a:pPr>
            <a:r>
              <a:rPr lang="fr-FR" sz="2800" dirty="0"/>
              <a:t>Consommation électrique refroidissement :</a:t>
            </a:r>
            <a:r>
              <a:rPr lang="fr-FR" sz="2800" noProof="0" dirty="0"/>
              <a:t> 0,15kWh</a:t>
            </a:r>
          </a:p>
          <a:p>
            <a:pPr marL="457200" indent="-457200">
              <a:buFontTx/>
              <a:buChar char="-"/>
            </a:pPr>
            <a:endParaRPr lang="fr-FR" sz="2800" dirty="0"/>
          </a:p>
          <a:p>
            <a:pPr marL="457200" indent="-457200">
              <a:buFontTx/>
              <a:buChar char="-"/>
            </a:pPr>
            <a:r>
              <a:rPr lang="fr-FR" sz="2800" dirty="0"/>
              <a:t>Entretien du matériel : 6000€ / 4 ans</a:t>
            </a:r>
          </a:p>
          <a:p>
            <a:pPr marL="457200" indent="-457200">
              <a:buFontTx/>
              <a:buChar char="-"/>
            </a:pPr>
            <a:endParaRPr lang="fr-FR" sz="2800" dirty="0"/>
          </a:p>
          <a:p>
            <a:pPr marL="457200" indent="-457200">
              <a:buFontTx/>
              <a:buChar char="-"/>
            </a:pPr>
            <a:r>
              <a:rPr lang="fr-FR" sz="2800" dirty="0"/>
              <a:t>Réseau internet : 150€ / mois</a:t>
            </a:r>
          </a:p>
          <a:p>
            <a:pPr marL="457200" indent="-457200">
              <a:buFontTx/>
              <a:buChar char="-"/>
            </a:pPr>
            <a:endParaRPr lang="fr-FR" sz="2800" noProof="0" dirty="0"/>
          </a:p>
          <a:p>
            <a:r>
              <a:rPr lang="fr-FR" sz="2800" b="1" dirty="0"/>
              <a:t>Total = 0,424€/h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858C99-48CE-2349-A880-497070E424EE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III. Bilan</a:t>
            </a:r>
          </a:p>
        </p:txBody>
      </p:sp>
    </p:spTree>
    <p:extLst>
      <p:ext uri="{BB962C8B-B14F-4D97-AF65-F5344CB8AC3E}">
        <p14:creationId xmlns:p14="http://schemas.microsoft.com/office/powerpoint/2010/main" val="3746015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623789-72FB-5B8F-2048-281CBDF7A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E138AD-9F25-D0E0-F8DA-0CA53BC29DCD}"/>
              </a:ext>
            </a:extLst>
          </p:cNvPr>
          <p:cNvSpPr txBox="1"/>
          <p:nvPr/>
        </p:nvSpPr>
        <p:spPr>
          <a:xfrm>
            <a:off x="1353880" y="578675"/>
            <a:ext cx="94842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Est-ce vraiment contraignant ?</a:t>
            </a:r>
            <a:endParaRPr lang="fr-FR" sz="4000" noProof="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B40999-8052-21ED-2FD0-39DAD9E27AFB}"/>
              </a:ext>
            </a:extLst>
          </p:cNvPr>
          <p:cNvSpPr txBox="1"/>
          <p:nvPr/>
        </p:nvSpPr>
        <p:spPr>
          <a:xfrm>
            <a:off x="1353879" y="1843950"/>
            <a:ext cx="10323255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Tx/>
              <a:buChar char="-"/>
            </a:pPr>
            <a:r>
              <a:rPr lang="fr-FR" sz="2800" dirty="0"/>
              <a:t>Total = 0,424€/h</a:t>
            </a:r>
          </a:p>
          <a:p>
            <a:pPr marL="457200" indent="-457200">
              <a:buFontTx/>
              <a:buChar char="-"/>
            </a:pPr>
            <a:endParaRPr lang="fr-FR" sz="2800" dirty="0"/>
          </a:p>
          <a:p>
            <a:pPr marL="457200" indent="-457200">
              <a:buFontTx/>
              <a:buChar char="-"/>
            </a:pPr>
            <a:r>
              <a:rPr lang="fr-FR" sz="2800" dirty="0"/>
              <a:t>1 page =&gt; 1 seconde en plus</a:t>
            </a:r>
          </a:p>
          <a:p>
            <a:pPr marL="457200" indent="-457200">
              <a:buFontTx/>
              <a:buChar char="-"/>
            </a:pPr>
            <a:endParaRPr lang="fr-FR" sz="2800" dirty="0"/>
          </a:p>
          <a:p>
            <a:pPr marL="457200" indent="-457200">
              <a:buFontTx/>
              <a:buChar char="-"/>
            </a:pPr>
            <a:r>
              <a:rPr lang="fr-FR" sz="2800" dirty="0"/>
              <a:t>Maquette : </a:t>
            </a:r>
            <a:r>
              <a:rPr lang="fr-FR" sz="2800" b="1" dirty="0"/>
              <a:t>0,0053€</a:t>
            </a:r>
          </a:p>
          <a:p>
            <a:pPr marL="457200" indent="-457200">
              <a:buFontTx/>
              <a:buChar char="-"/>
            </a:pPr>
            <a:endParaRPr lang="fr-FR" sz="2800" b="1" dirty="0"/>
          </a:p>
          <a:p>
            <a:pPr marL="457200" indent="-457200">
              <a:buFontTx/>
              <a:buChar char="-"/>
            </a:pPr>
            <a:r>
              <a:rPr lang="fr-FR" sz="2800" dirty="0" err="1"/>
              <a:t>Wikipedia</a:t>
            </a:r>
            <a:r>
              <a:rPr lang="fr-FR" sz="2800" dirty="0"/>
              <a:t> (300 millions de pages) : </a:t>
            </a:r>
            <a:r>
              <a:rPr lang="fr-FR" sz="2800" b="1" dirty="0"/>
              <a:t>34 k€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B3653A-FABF-169B-AC15-0509B2DDF385}"/>
              </a:ext>
            </a:extLst>
          </p:cNvPr>
          <p:cNvSpPr txBox="1"/>
          <p:nvPr/>
        </p:nvSpPr>
        <p:spPr>
          <a:xfrm>
            <a:off x="7437120" y="6336268"/>
            <a:ext cx="4556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noProof="0" dirty="0"/>
              <a:t>III. Bilan</a:t>
            </a:r>
          </a:p>
        </p:txBody>
      </p:sp>
    </p:spTree>
    <p:extLst>
      <p:ext uri="{BB962C8B-B14F-4D97-AF65-F5344CB8AC3E}">
        <p14:creationId xmlns:p14="http://schemas.microsoft.com/office/powerpoint/2010/main" val="3922276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5A64-C12E-F320-AF56-1ACF8970C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A29B45-6754-5573-23B9-E49AB8976F0B}"/>
              </a:ext>
            </a:extLst>
          </p:cNvPr>
          <p:cNvSpPr txBox="1"/>
          <p:nvPr/>
        </p:nvSpPr>
        <p:spPr>
          <a:xfrm>
            <a:off x="1353880" y="2875002"/>
            <a:ext cx="94842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6600" dirty="0"/>
              <a:t>Conclusion…</a:t>
            </a:r>
            <a:endParaRPr lang="fr-FR" sz="4000" noProof="0" dirty="0"/>
          </a:p>
        </p:txBody>
      </p:sp>
    </p:spTree>
    <p:extLst>
      <p:ext uri="{BB962C8B-B14F-4D97-AF65-F5344CB8AC3E}">
        <p14:creationId xmlns:p14="http://schemas.microsoft.com/office/powerpoint/2010/main" val="293636082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705</TotalTime>
  <Words>976</Words>
  <Application>Microsoft Macintosh PowerPoint</Application>
  <PresentationFormat>Widescreen</PresentationFormat>
  <Paragraphs>217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Arial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François Le Bescond de Coatpont</dc:creator>
  <cp:lastModifiedBy>François Le Bescond de Coatpont</cp:lastModifiedBy>
  <cp:revision>4</cp:revision>
  <dcterms:created xsi:type="dcterms:W3CDTF">2026-06-28T21:51:37Z</dcterms:created>
  <dcterms:modified xsi:type="dcterms:W3CDTF">2026-06-29T09:37:24Z</dcterms:modified>
</cp:coreProperties>
</file>